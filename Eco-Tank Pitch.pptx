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Google Sans Code"/>
      <p:regular r:id="rId21"/>
      <p:bold r:id="rId22"/>
      <p:italic r:id="rId23"/>
      <p:boldItalic r:id="rId24"/>
    </p:embeddedFont>
    <p:embeddedFont>
      <p:font typeface="Noto Sans"/>
      <p:regular r:id="rId25"/>
      <p:bold r:id="rId26"/>
      <p:italic r:id="rId27"/>
      <p:boldItalic r:id="rId28"/>
    </p:embeddedFont>
    <p:embeddedFont>
      <p:font typeface="Google Sans"/>
      <p:regular r:id="rId29"/>
      <p:bold r:id="rId30"/>
      <p:italic r:id="rId31"/>
      <p:boldItalic r:id="rId32"/>
    </p:embeddedFont>
    <p:embeddedFont>
      <p:font typeface="Gotu"/>
      <p:regular r:id="rId33"/>
    </p:embeddedFont>
    <p:embeddedFont>
      <p:font typeface="Noto Sans Symbols"/>
      <p:regular r:id="rId34"/>
      <p:bold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oogleSansCode-bold.fntdata"/><Relationship Id="rId21" Type="http://schemas.openxmlformats.org/officeDocument/2006/relationships/font" Target="fonts/GoogleSansCode-regular.fntdata"/><Relationship Id="rId24" Type="http://schemas.openxmlformats.org/officeDocument/2006/relationships/font" Target="fonts/GoogleSansCode-boldItalic.fntdata"/><Relationship Id="rId23" Type="http://schemas.openxmlformats.org/officeDocument/2006/relationships/font" Target="fonts/GoogleSansCod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NotoSans-bold.fntdata"/><Relationship Id="rId25" Type="http://schemas.openxmlformats.org/officeDocument/2006/relationships/font" Target="fonts/NotoSans-regular.fntdata"/><Relationship Id="rId28" Type="http://schemas.openxmlformats.org/officeDocument/2006/relationships/font" Target="fonts/NotoSans-boldItalic.fntdata"/><Relationship Id="rId27" Type="http://schemas.openxmlformats.org/officeDocument/2006/relationships/font" Target="fonts/Noto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Google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oogleSans-italic.fntdata"/><Relationship Id="rId30" Type="http://schemas.openxmlformats.org/officeDocument/2006/relationships/font" Target="fonts/GoogleSans-bold.fntdata"/><Relationship Id="rId11" Type="http://schemas.openxmlformats.org/officeDocument/2006/relationships/slide" Target="slides/slide5.xml"/><Relationship Id="rId33" Type="http://schemas.openxmlformats.org/officeDocument/2006/relationships/font" Target="fonts/Gotu-regular.fntdata"/><Relationship Id="rId10" Type="http://schemas.openxmlformats.org/officeDocument/2006/relationships/slide" Target="slides/slide4.xml"/><Relationship Id="rId32" Type="http://schemas.openxmlformats.org/officeDocument/2006/relationships/font" Target="fonts/GoogleSans-boldItalic.fntdata"/><Relationship Id="rId13" Type="http://schemas.openxmlformats.org/officeDocument/2006/relationships/slide" Target="slides/slide7.xml"/><Relationship Id="rId35" Type="http://schemas.openxmlformats.org/officeDocument/2006/relationships/font" Target="fonts/NotoSansSymbols-bold.fntdata"/><Relationship Id="rId12" Type="http://schemas.openxmlformats.org/officeDocument/2006/relationships/slide" Target="slides/slide6.xml"/><Relationship Id="rId34" Type="http://schemas.openxmlformats.org/officeDocument/2006/relationships/font" Target="fonts/NotoSansSymbols-regular.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44fbfd957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e44fbfd957_4_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44fbfd957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e44fbfd957_4_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44fbfd957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e44fbfd957_4_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44fbfd957_4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e44fbfd957_4_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44fbfd957_4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e44fbfd957_4_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44fbfd957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e44fbfd957_4_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44fbfd957_4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44fbfd957_4_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44fbfd957_4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e44fbfd957_4_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44fbfd957_4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e44fbfd957_4_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44fbfd957_4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e44fbfd957_4_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4c7559ae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e4c7559ae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b367df68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eb367df680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44fbfd957_4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e44fbfd957_4_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44fbfd957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44fbfd957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10" Type="http://schemas.openxmlformats.org/officeDocument/2006/relationships/hyperlink" Target="http://bit.ly/2TtBDfr" TargetMode="External"/><Relationship Id="rId9" Type="http://schemas.openxmlformats.org/officeDocument/2006/relationships/hyperlink" Target="http://bit.ly/2TyoMsr" TargetMode="External"/><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hyperlink" Target="https://bit.ly/3A1uf1Q"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2"/>
        </a:solidFill>
      </p:bgPr>
    </p:bg>
    <p:spTree>
      <p:nvGrpSpPr>
        <p:cNvPr id="51" name="Shape 51"/>
        <p:cNvGrpSpPr/>
        <p:nvPr/>
      </p:nvGrpSpPr>
      <p:grpSpPr>
        <a:xfrm>
          <a:off x="0" y="0"/>
          <a:ext cx="0" cy="0"/>
          <a:chOff x="0" y="0"/>
          <a:chExt cx="0" cy="0"/>
        </a:xfrm>
      </p:grpSpPr>
      <p:pic>
        <p:nvPicPr>
          <p:cNvPr id="52" name="Google Shape;52;p14"/>
          <p:cNvPicPr preferRelativeResize="0"/>
          <p:nvPr/>
        </p:nvPicPr>
        <p:blipFill rotWithShape="1">
          <a:blip r:embed="rId2">
            <a:alphaModFix amt="39000"/>
          </a:blip>
          <a:srcRect b="0" l="0" r="0" t="0"/>
          <a:stretch/>
        </p:blipFill>
        <p:spPr>
          <a:xfrm rot="10510801">
            <a:off x="-197639" y="-238682"/>
            <a:ext cx="9540720" cy="4856041"/>
          </a:xfrm>
          <a:prstGeom prst="rect">
            <a:avLst/>
          </a:prstGeom>
          <a:noFill/>
          <a:ln>
            <a:noFill/>
          </a:ln>
        </p:spPr>
      </p:pic>
      <p:pic>
        <p:nvPicPr>
          <p:cNvPr id="53" name="Google Shape;53;p14"/>
          <p:cNvPicPr preferRelativeResize="0"/>
          <p:nvPr/>
        </p:nvPicPr>
        <p:blipFill rotWithShape="1">
          <a:blip r:embed="rId3">
            <a:alphaModFix/>
          </a:blip>
          <a:srcRect b="0" l="0" r="0" t="0"/>
          <a:stretch/>
        </p:blipFill>
        <p:spPr>
          <a:xfrm flipH="1" rot="8925599">
            <a:off x="-1103760" y="-662400"/>
            <a:ext cx="3485160" cy="1819080"/>
          </a:xfrm>
          <a:prstGeom prst="rect">
            <a:avLst/>
          </a:prstGeom>
          <a:noFill/>
          <a:ln>
            <a:noFill/>
          </a:ln>
        </p:spPr>
      </p:pic>
      <p:pic>
        <p:nvPicPr>
          <p:cNvPr id="54" name="Google Shape;54;p14"/>
          <p:cNvPicPr preferRelativeResize="0"/>
          <p:nvPr/>
        </p:nvPicPr>
        <p:blipFill rotWithShape="1">
          <a:blip r:embed="rId4">
            <a:alphaModFix/>
          </a:blip>
          <a:srcRect b="0" l="0" r="0" t="0"/>
          <a:stretch/>
        </p:blipFill>
        <p:spPr>
          <a:xfrm rot="-8875799">
            <a:off x="6143040" y="-539280"/>
            <a:ext cx="4571640" cy="2326679"/>
          </a:xfrm>
          <a:prstGeom prst="rect">
            <a:avLst/>
          </a:prstGeom>
          <a:noFill/>
          <a:ln>
            <a:noFill/>
          </a:ln>
        </p:spPr>
      </p:pic>
      <p:pic>
        <p:nvPicPr>
          <p:cNvPr id="55" name="Google Shape;55;p14"/>
          <p:cNvPicPr preferRelativeResize="0"/>
          <p:nvPr/>
        </p:nvPicPr>
        <p:blipFill rotWithShape="1">
          <a:blip r:embed="rId3">
            <a:alphaModFix/>
          </a:blip>
          <a:srcRect b="0" l="0" r="0" t="0"/>
          <a:stretch/>
        </p:blipFill>
        <p:spPr>
          <a:xfrm flipH="1" rot="-2839202">
            <a:off x="7268402" y="3811320"/>
            <a:ext cx="3485158" cy="1819080"/>
          </a:xfrm>
          <a:prstGeom prst="rect">
            <a:avLst/>
          </a:prstGeom>
          <a:noFill/>
          <a:ln>
            <a:noFill/>
          </a:ln>
        </p:spPr>
      </p:pic>
      <p:pic>
        <p:nvPicPr>
          <p:cNvPr id="56" name="Google Shape;56;p14"/>
          <p:cNvPicPr preferRelativeResize="0"/>
          <p:nvPr/>
        </p:nvPicPr>
        <p:blipFill rotWithShape="1">
          <a:blip r:embed="rId4">
            <a:alphaModFix/>
          </a:blip>
          <a:srcRect b="0" l="0" r="0" t="0"/>
          <a:stretch/>
        </p:blipFill>
        <p:spPr>
          <a:xfrm rot="2700000">
            <a:off x="-1570320" y="3365281"/>
            <a:ext cx="4571643" cy="2326680"/>
          </a:xfrm>
          <a:prstGeom prst="rect">
            <a:avLst/>
          </a:prstGeom>
          <a:noFill/>
          <a:ln>
            <a:noFill/>
          </a:ln>
        </p:spPr>
      </p:pic>
      <p:sp>
        <p:nvSpPr>
          <p:cNvPr id="57" name="Google Shape;57;p14"/>
          <p:cNvSpPr txBox="1"/>
          <p:nvPr>
            <p:ph type="title"/>
          </p:nvPr>
        </p:nvSpPr>
        <p:spPr>
          <a:xfrm>
            <a:off x="1155600" y="997560"/>
            <a:ext cx="6832500" cy="26247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pic>
        <p:nvPicPr>
          <p:cNvPr id="58" name="Google Shape;58;p14"/>
          <p:cNvPicPr preferRelativeResize="0"/>
          <p:nvPr/>
        </p:nvPicPr>
        <p:blipFill rotWithShape="1">
          <a:blip r:embed="rId5">
            <a:alphaModFix/>
          </a:blip>
          <a:srcRect b="0" l="0" r="0" t="0"/>
          <a:stretch/>
        </p:blipFill>
        <p:spPr>
          <a:xfrm flipH="1" rot="-192002">
            <a:off x="7979761" y="283320"/>
            <a:ext cx="649080" cy="1789558"/>
          </a:xfrm>
          <a:prstGeom prst="rect">
            <a:avLst/>
          </a:prstGeom>
          <a:noFill/>
          <a:ln>
            <a:noFill/>
          </a:ln>
        </p:spPr>
      </p:pic>
      <p:pic>
        <p:nvPicPr>
          <p:cNvPr id="59" name="Google Shape;59;p14"/>
          <p:cNvPicPr preferRelativeResize="0"/>
          <p:nvPr/>
        </p:nvPicPr>
        <p:blipFill rotWithShape="1">
          <a:blip r:embed="rId6">
            <a:alphaModFix/>
          </a:blip>
          <a:srcRect b="0" l="0" r="0" t="0"/>
          <a:stretch/>
        </p:blipFill>
        <p:spPr>
          <a:xfrm flipH="1" rot="-907800">
            <a:off x="347400" y="4301640"/>
            <a:ext cx="1179359" cy="1112401"/>
          </a:xfrm>
          <a:prstGeom prst="rect">
            <a:avLst/>
          </a:prstGeom>
          <a:noFill/>
          <a:ln>
            <a:noFill/>
          </a:ln>
        </p:spPr>
      </p:pic>
      <p:pic>
        <p:nvPicPr>
          <p:cNvPr id="60" name="Google Shape;60;p14"/>
          <p:cNvPicPr preferRelativeResize="0"/>
          <p:nvPr/>
        </p:nvPicPr>
        <p:blipFill rotWithShape="1">
          <a:blip r:embed="rId7">
            <a:alphaModFix/>
          </a:blip>
          <a:srcRect b="0" l="0" r="0" t="0"/>
          <a:stretch/>
        </p:blipFill>
        <p:spPr>
          <a:xfrm>
            <a:off x="7619760" y="4373640"/>
            <a:ext cx="713160" cy="636120"/>
          </a:xfrm>
          <a:prstGeom prst="rect">
            <a:avLst/>
          </a:prstGeom>
          <a:noFill/>
          <a:ln>
            <a:noFill/>
          </a:ln>
        </p:spPr>
      </p:pic>
      <p:pic>
        <p:nvPicPr>
          <p:cNvPr id="61" name="Google Shape;61;p14"/>
          <p:cNvPicPr preferRelativeResize="0"/>
          <p:nvPr/>
        </p:nvPicPr>
        <p:blipFill rotWithShape="1">
          <a:blip r:embed="rId7">
            <a:alphaModFix/>
          </a:blip>
          <a:srcRect b="0" l="0" r="0" t="0"/>
          <a:stretch/>
        </p:blipFill>
        <p:spPr>
          <a:xfrm>
            <a:off x="8619840" y="4088880"/>
            <a:ext cx="713160" cy="636120"/>
          </a:xfrm>
          <a:prstGeom prst="rect">
            <a:avLst/>
          </a:prstGeom>
          <a:noFill/>
          <a:ln>
            <a:noFill/>
          </a:ln>
        </p:spPr>
      </p:pic>
      <p:pic>
        <p:nvPicPr>
          <p:cNvPr id="62" name="Google Shape;62;p14"/>
          <p:cNvPicPr preferRelativeResize="0"/>
          <p:nvPr/>
        </p:nvPicPr>
        <p:blipFill rotWithShape="1">
          <a:blip r:embed="rId7">
            <a:alphaModFix/>
          </a:blip>
          <a:srcRect b="0" l="0" r="0" t="0"/>
          <a:stretch/>
        </p:blipFill>
        <p:spPr>
          <a:xfrm>
            <a:off x="894960" y="-216360"/>
            <a:ext cx="713160" cy="636120"/>
          </a:xfrm>
          <a:prstGeom prst="rect">
            <a:avLst/>
          </a:prstGeom>
          <a:noFill/>
          <a:ln>
            <a:noFill/>
          </a:ln>
        </p:spPr>
      </p:pic>
      <p:pic>
        <p:nvPicPr>
          <p:cNvPr id="63" name="Google Shape;63;p14"/>
          <p:cNvPicPr preferRelativeResize="0"/>
          <p:nvPr/>
        </p:nvPicPr>
        <p:blipFill rotWithShape="1">
          <a:blip r:embed="rId7">
            <a:alphaModFix/>
          </a:blip>
          <a:srcRect b="0" l="0" r="0" t="0"/>
          <a:stretch/>
        </p:blipFill>
        <p:spPr>
          <a:xfrm>
            <a:off x="358200" y="763560"/>
            <a:ext cx="713160" cy="636120"/>
          </a:xfrm>
          <a:prstGeom prst="rect">
            <a:avLst/>
          </a:prstGeom>
          <a:noFill/>
          <a:ln>
            <a:noFill/>
          </a:ln>
        </p:spPr>
      </p:pic>
      <p:sp>
        <p:nvSpPr>
          <p:cNvPr id="64" name="Google Shape;64;p14"/>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accent2"/>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67" name="Google Shape;67;p15"/>
          <p:cNvSpPr txBox="1"/>
          <p:nvPr>
            <p:ph idx="1" type="body"/>
          </p:nvPr>
        </p:nvSpPr>
        <p:spPr>
          <a:xfrm>
            <a:off x="720000" y="1152360"/>
            <a:ext cx="7703700" cy="4665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pic>
        <p:nvPicPr>
          <p:cNvPr id="68" name="Google Shape;68;p15"/>
          <p:cNvPicPr preferRelativeResize="0"/>
          <p:nvPr/>
        </p:nvPicPr>
        <p:blipFill rotWithShape="1">
          <a:blip r:embed="rId2">
            <a:alphaModFix/>
          </a:blip>
          <a:srcRect b="0" l="0" r="0" t="0"/>
          <a:stretch/>
        </p:blipFill>
        <p:spPr>
          <a:xfrm flipH="1" rot="9287401">
            <a:off x="7258320" y="4510801"/>
            <a:ext cx="3066841" cy="1699559"/>
          </a:xfrm>
          <a:prstGeom prst="rect">
            <a:avLst/>
          </a:prstGeom>
          <a:noFill/>
          <a:ln>
            <a:noFill/>
          </a:ln>
        </p:spPr>
      </p:pic>
      <p:pic>
        <p:nvPicPr>
          <p:cNvPr id="69" name="Google Shape;69;p15"/>
          <p:cNvPicPr preferRelativeResize="0"/>
          <p:nvPr/>
        </p:nvPicPr>
        <p:blipFill rotWithShape="1">
          <a:blip r:embed="rId3">
            <a:alphaModFix/>
          </a:blip>
          <a:srcRect b="0" l="0" r="0" t="0"/>
          <a:stretch/>
        </p:blipFill>
        <p:spPr>
          <a:xfrm rot="9720001">
            <a:off x="-1389961" y="-951842"/>
            <a:ext cx="3495960" cy="1826281"/>
          </a:xfrm>
          <a:prstGeom prst="rect">
            <a:avLst/>
          </a:prstGeom>
          <a:noFill/>
          <a:ln>
            <a:noFill/>
          </a:ln>
        </p:spPr>
      </p:pic>
      <p:pic>
        <p:nvPicPr>
          <p:cNvPr id="70" name="Google Shape;70;p15"/>
          <p:cNvPicPr preferRelativeResize="0"/>
          <p:nvPr/>
        </p:nvPicPr>
        <p:blipFill rotWithShape="1">
          <a:blip r:embed="rId4">
            <a:alphaModFix/>
          </a:blip>
          <a:srcRect b="0" l="0" r="0" t="0"/>
          <a:stretch/>
        </p:blipFill>
        <p:spPr>
          <a:xfrm>
            <a:off x="-563760" y="4133520"/>
            <a:ext cx="1278362" cy="1204918"/>
          </a:xfrm>
          <a:prstGeom prst="rect">
            <a:avLst/>
          </a:prstGeom>
          <a:noFill/>
          <a:ln>
            <a:noFill/>
          </a:ln>
        </p:spPr>
      </p:pic>
      <p:pic>
        <p:nvPicPr>
          <p:cNvPr id="71" name="Google Shape;71;p15"/>
          <p:cNvPicPr preferRelativeResize="0"/>
          <p:nvPr/>
        </p:nvPicPr>
        <p:blipFill rotWithShape="1">
          <a:blip r:embed="rId5">
            <a:alphaModFix/>
          </a:blip>
          <a:srcRect b="0" l="0" r="0" t="0"/>
          <a:stretch/>
        </p:blipFill>
        <p:spPr>
          <a:xfrm flipH="1">
            <a:off x="8424361" y="136800"/>
            <a:ext cx="542879" cy="572401"/>
          </a:xfrm>
          <a:prstGeom prst="rect">
            <a:avLst/>
          </a:prstGeom>
          <a:noFill/>
          <a:ln>
            <a:noFill/>
          </a:ln>
        </p:spPr>
      </p:pic>
      <p:pic>
        <p:nvPicPr>
          <p:cNvPr id="72" name="Google Shape;72;p15"/>
          <p:cNvPicPr preferRelativeResize="0"/>
          <p:nvPr/>
        </p:nvPicPr>
        <p:blipFill rotWithShape="1">
          <a:blip r:embed="rId5">
            <a:alphaModFix/>
          </a:blip>
          <a:srcRect b="0" l="0" r="0" t="0"/>
          <a:stretch/>
        </p:blipFill>
        <p:spPr>
          <a:xfrm flipH="1">
            <a:off x="8839440" y="882720"/>
            <a:ext cx="507240" cy="534600"/>
          </a:xfrm>
          <a:prstGeom prst="rect">
            <a:avLst/>
          </a:prstGeom>
          <a:noFill/>
          <a:ln>
            <a:noFill/>
          </a:ln>
        </p:spPr>
      </p:pic>
      <p:pic>
        <p:nvPicPr>
          <p:cNvPr id="73" name="Google Shape;73;p15"/>
          <p:cNvPicPr preferRelativeResize="0"/>
          <p:nvPr/>
        </p:nvPicPr>
        <p:blipFill rotWithShape="1">
          <a:blip r:embed="rId5">
            <a:alphaModFix/>
          </a:blip>
          <a:srcRect b="0" l="0" r="0" t="0"/>
          <a:stretch/>
        </p:blipFill>
        <p:spPr>
          <a:xfrm rot="1616988">
            <a:off x="-247680" y="1417319"/>
            <a:ext cx="507240" cy="5346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2" type="blank">
  <p:cSld name="BLANK">
    <p:bg>
      <p:bgPr>
        <a:solidFill>
          <a:schemeClr val="accent2"/>
        </a:solidFill>
      </p:bgPr>
    </p:bg>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2">
            <a:alphaModFix amt="33000"/>
          </a:blip>
          <a:srcRect b="0" l="0" r="0" t="0"/>
          <a:stretch/>
        </p:blipFill>
        <p:spPr>
          <a:xfrm rot="-533400">
            <a:off x="-321840" y="33120"/>
            <a:ext cx="9920878" cy="5183279"/>
          </a:xfrm>
          <a:prstGeom prst="rect">
            <a:avLst/>
          </a:prstGeom>
          <a:noFill/>
          <a:ln>
            <a:noFill/>
          </a:ln>
        </p:spPr>
      </p:pic>
      <p:pic>
        <p:nvPicPr>
          <p:cNvPr id="76" name="Google Shape;76;p16"/>
          <p:cNvPicPr preferRelativeResize="0"/>
          <p:nvPr/>
        </p:nvPicPr>
        <p:blipFill rotWithShape="1">
          <a:blip r:embed="rId3">
            <a:alphaModFix/>
          </a:blip>
          <a:srcRect b="0" l="0" r="0" t="0"/>
          <a:stretch/>
        </p:blipFill>
        <p:spPr>
          <a:xfrm flipH="1" rot="1372798">
            <a:off x="-279001" y="3981240"/>
            <a:ext cx="1244881" cy="1526762"/>
          </a:xfrm>
          <a:prstGeom prst="rect">
            <a:avLst/>
          </a:prstGeom>
          <a:noFill/>
          <a:ln>
            <a:noFill/>
          </a:ln>
        </p:spPr>
      </p:pic>
      <p:pic>
        <p:nvPicPr>
          <p:cNvPr id="77" name="Google Shape;77;p16"/>
          <p:cNvPicPr preferRelativeResize="0"/>
          <p:nvPr/>
        </p:nvPicPr>
        <p:blipFill rotWithShape="1">
          <a:blip r:embed="rId4">
            <a:alphaModFix/>
          </a:blip>
          <a:srcRect b="0" l="0" r="0" t="0"/>
          <a:stretch/>
        </p:blipFill>
        <p:spPr>
          <a:xfrm flipH="1" rot="10800000">
            <a:off x="8165160" y="-275760"/>
            <a:ext cx="1697761" cy="1599840"/>
          </a:xfrm>
          <a:prstGeom prst="rect">
            <a:avLst/>
          </a:prstGeom>
          <a:noFill/>
          <a:ln>
            <a:noFill/>
          </a:ln>
        </p:spPr>
      </p:pic>
      <p:pic>
        <p:nvPicPr>
          <p:cNvPr id="78" name="Google Shape;78;p16"/>
          <p:cNvPicPr preferRelativeResize="0"/>
          <p:nvPr/>
        </p:nvPicPr>
        <p:blipFill rotWithShape="1">
          <a:blip r:embed="rId5">
            <a:alphaModFix/>
          </a:blip>
          <a:srcRect b="0" l="0" r="0" t="0"/>
          <a:stretch/>
        </p:blipFill>
        <p:spPr>
          <a:xfrm>
            <a:off x="8620200" y="1591200"/>
            <a:ext cx="450721" cy="516961"/>
          </a:xfrm>
          <a:prstGeom prst="rect">
            <a:avLst/>
          </a:prstGeom>
          <a:noFill/>
          <a:ln>
            <a:noFill/>
          </a:ln>
        </p:spPr>
      </p:pic>
      <p:pic>
        <p:nvPicPr>
          <p:cNvPr id="79" name="Google Shape;79;p16"/>
          <p:cNvPicPr preferRelativeResize="0"/>
          <p:nvPr/>
        </p:nvPicPr>
        <p:blipFill rotWithShape="1">
          <a:blip r:embed="rId2">
            <a:alphaModFix/>
          </a:blip>
          <a:srcRect b="0" l="0" r="0" t="0"/>
          <a:stretch/>
        </p:blipFill>
        <p:spPr>
          <a:xfrm rot="-465602">
            <a:off x="6781679" y="3894119"/>
            <a:ext cx="3723840" cy="1945439"/>
          </a:xfrm>
          <a:prstGeom prst="rect">
            <a:avLst/>
          </a:prstGeom>
          <a:noFill/>
          <a:ln>
            <a:noFill/>
          </a:ln>
        </p:spPr>
      </p:pic>
      <p:pic>
        <p:nvPicPr>
          <p:cNvPr id="80" name="Google Shape;80;p16"/>
          <p:cNvPicPr preferRelativeResize="0"/>
          <p:nvPr/>
        </p:nvPicPr>
        <p:blipFill rotWithShape="1">
          <a:blip r:embed="rId6">
            <a:alphaModFix/>
          </a:blip>
          <a:srcRect b="0" l="0" r="0" t="0"/>
          <a:stretch/>
        </p:blipFill>
        <p:spPr>
          <a:xfrm>
            <a:off x="-1057320" y="-570960"/>
            <a:ext cx="3723843" cy="1894679"/>
          </a:xfrm>
          <a:prstGeom prst="rect">
            <a:avLst/>
          </a:prstGeom>
          <a:noFill/>
          <a:ln>
            <a:noFill/>
          </a:ln>
        </p:spPr>
      </p:pic>
      <p:pic>
        <p:nvPicPr>
          <p:cNvPr id="81" name="Google Shape;81;p16"/>
          <p:cNvPicPr preferRelativeResize="0"/>
          <p:nvPr/>
        </p:nvPicPr>
        <p:blipFill rotWithShape="1">
          <a:blip r:embed="rId7">
            <a:alphaModFix/>
          </a:blip>
          <a:srcRect b="0" l="0" r="0" t="0"/>
          <a:stretch/>
        </p:blipFill>
        <p:spPr>
          <a:xfrm rot="1173607">
            <a:off x="0" y="2748601"/>
            <a:ext cx="969479" cy="914040"/>
          </a:xfrm>
          <a:prstGeom prst="rect">
            <a:avLst/>
          </a:prstGeom>
          <a:noFill/>
          <a:ln>
            <a:noFill/>
          </a:ln>
        </p:spPr>
      </p:pic>
      <p:pic>
        <p:nvPicPr>
          <p:cNvPr id="82" name="Google Shape;82;p16"/>
          <p:cNvPicPr preferRelativeResize="0"/>
          <p:nvPr/>
        </p:nvPicPr>
        <p:blipFill rotWithShape="1">
          <a:blip r:embed="rId5">
            <a:alphaModFix/>
          </a:blip>
          <a:srcRect b="0" l="0" r="0" t="0"/>
          <a:stretch/>
        </p:blipFill>
        <p:spPr>
          <a:xfrm>
            <a:off x="1213560" y="4608360"/>
            <a:ext cx="450721" cy="516961"/>
          </a:xfrm>
          <a:prstGeom prst="rect">
            <a:avLst/>
          </a:prstGeom>
          <a:noFill/>
          <a:ln>
            <a:noFill/>
          </a:ln>
        </p:spPr>
      </p:pic>
      <p:pic>
        <p:nvPicPr>
          <p:cNvPr id="83" name="Google Shape;83;p16"/>
          <p:cNvPicPr preferRelativeResize="0"/>
          <p:nvPr/>
        </p:nvPicPr>
        <p:blipFill rotWithShape="1">
          <a:blip r:embed="rId5">
            <a:alphaModFix/>
          </a:blip>
          <a:srcRect b="0" l="0" r="0" t="0"/>
          <a:stretch/>
        </p:blipFill>
        <p:spPr>
          <a:xfrm flipH="1" rot="10800000">
            <a:off x="7458120" y="359"/>
            <a:ext cx="450721" cy="516961"/>
          </a:xfrm>
          <a:prstGeom prst="rect">
            <a:avLst/>
          </a:prstGeom>
          <a:noFill/>
          <a:ln>
            <a:noFill/>
          </a:ln>
        </p:spPr>
      </p:pic>
      <p:sp>
        <p:nvSpPr>
          <p:cNvPr id="84" name="Google Shape;84;p16"/>
          <p:cNvSpPr txBox="1"/>
          <p:nvPr>
            <p:ph type="title"/>
          </p:nvPr>
        </p:nvSpPr>
        <p:spPr>
          <a:xfrm>
            <a:off x="2382120" y="534960"/>
            <a:ext cx="4379100" cy="10560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85" name="Google Shape;85;p16"/>
          <p:cNvSpPr/>
          <p:nvPr/>
        </p:nvSpPr>
        <p:spPr>
          <a:xfrm>
            <a:off x="2382480" y="3563280"/>
            <a:ext cx="4379100" cy="6153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0" i="0" lang="en" sz="1000" u="none" cap="none" strike="noStrike">
                <a:solidFill>
                  <a:schemeClr val="dk1"/>
                </a:solidFill>
                <a:latin typeface="Open Sans"/>
                <a:ea typeface="Open Sans"/>
                <a:cs typeface="Open Sans"/>
                <a:sym typeface="Open Sans"/>
              </a:rPr>
              <a:t>CREDITS: This presentation template was created by </a:t>
            </a:r>
            <a:r>
              <a:rPr b="1" i="0" lang="en" sz="1000" u="sng" cap="none" strike="noStrike">
                <a:solidFill>
                  <a:schemeClr val="hlink"/>
                </a:solidFill>
                <a:latin typeface="Open Sans"/>
                <a:ea typeface="Open Sans"/>
                <a:cs typeface="Open Sans"/>
                <a:sym typeface="Open Sans"/>
                <a:hlinkClick r:id="rId8"/>
              </a:rPr>
              <a:t>Slidesgo</a:t>
            </a:r>
            <a:r>
              <a:rPr b="0" i="0" lang="en" sz="1000" u="none" cap="none" strike="noStrike">
                <a:solidFill>
                  <a:schemeClr val="dk1"/>
                </a:solidFill>
                <a:latin typeface="Open Sans"/>
                <a:ea typeface="Open Sans"/>
                <a:cs typeface="Open Sans"/>
                <a:sym typeface="Open Sans"/>
              </a:rPr>
              <a:t>, including icons by </a:t>
            </a:r>
            <a:r>
              <a:rPr b="1" i="0" lang="en" sz="1000" u="sng" cap="none" strike="noStrike">
                <a:solidFill>
                  <a:schemeClr val="hlink"/>
                </a:solidFill>
                <a:latin typeface="Open Sans"/>
                <a:ea typeface="Open Sans"/>
                <a:cs typeface="Open Sans"/>
                <a:sym typeface="Open Sans"/>
                <a:hlinkClick r:id="rId9"/>
              </a:rPr>
              <a:t>Flaticon</a:t>
            </a:r>
            <a:r>
              <a:rPr b="0" i="0" lang="en" sz="1000" u="none" cap="none" strike="noStrike">
                <a:solidFill>
                  <a:schemeClr val="dk1"/>
                </a:solidFill>
                <a:latin typeface="Open Sans"/>
                <a:ea typeface="Open Sans"/>
                <a:cs typeface="Open Sans"/>
                <a:sym typeface="Open Sans"/>
              </a:rPr>
              <a:t>, and infographics &amp; images by </a:t>
            </a:r>
            <a:r>
              <a:rPr b="1" i="0" lang="en" sz="1000" u="sng" cap="none" strike="noStrike">
                <a:solidFill>
                  <a:schemeClr val="hlink"/>
                </a:solidFill>
                <a:latin typeface="Open Sans"/>
                <a:ea typeface="Open Sans"/>
                <a:cs typeface="Open Sans"/>
                <a:sym typeface="Open Sans"/>
                <a:hlinkClick r:id="rId10"/>
              </a:rPr>
              <a:t>Freepik</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25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mc:AlternateContent>
    <mc:Choice Requires="p14">
      <p:transition spd="slow" p14:dur="25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s://sites.google.com/mymail.lausd.net/abyssal-squid/abyssal-squi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 name="Shape 89"/>
        <p:cNvGrpSpPr/>
        <p:nvPr/>
      </p:nvGrpSpPr>
      <p:grpSpPr>
        <a:xfrm>
          <a:off x="0" y="0"/>
          <a:ext cx="0" cy="0"/>
          <a:chOff x="0" y="0"/>
          <a:chExt cx="0" cy="0"/>
        </a:xfrm>
      </p:grpSpPr>
      <p:sp>
        <p:nvSpPr>
          <p:cNvPr id="90" name="Google Shape;90;p17"/>
          <p:cNvSpPr/>
          <p:nvPr/>
        </p:nvSpPr>
        <p:spPr>
          <a:xfrm>
            <a:off x="1152360" y="1000080"/>
            <a:ext cx="6829200" cy="685440"/>
          </a:xfrm>
          <a:prstGeom prst="rect">
            <a:avLst/>
          </a:prstGeom>
          <a:noFill/>
          <a:ln>
            <a:noFill/>
          </a:ln>
        </p:spPr>
        <p:txBody>
          <a:bodyPr anchorCtr="0" anchor="b" bIns="45700" lIns="91425" spcFirstLastPara="1" rIns="91425" wrap="square" tIns="45700">
            <a:noAutofit/>
          </a:bodyPr>
          <a:lstStyle/>
          <a:p>
            <a:pPr indent="0" lvl="0" marL="0" marR="0" rtl="0" algn="ctr">
              <a:lnSpc>
                <a:spcPct val="70001"/>
              </a:lnSpc>
              <a:spcBef>
                <a:spcPts val="0"/>
              </a:spcBef>
              <a:spcAft>
                <a:spcPts val="0"/>
              </a:spcAft>
              <a:buNone/>
            </a:pPr>
            <a:r>
              <a:rPr lang="en" sz="5000">
                <a:solidFill>
                  <a:srgbClr val="0C2E6E"/>
                </a:solidFill>
                <a:latin typeface="Gotu"/>
                <a:ea typeface="Gotu"/>
                <a:cs typeface="Gotu"/>
                <a:sym typeface="Gotu"/>
              </a:rPr>
              <a:t>THE </a:t>
            </a:r>
            <a:r>
              <a:rPr lang="en" sz="5000">
                <a:solidFill>
                  <a:srgbClr val="0C2E6E"/>
                </a:solidFill>
                <a:latin typeface="Gotu"/>
                <a:ea typeface="Gotu"/>
                <a:cs typeface="Gotu"/>
                <a:sym typeface="Gotu"/>
              </a:rPr>
              <a:t>ABYSSAL</a:t>
            </a:r>
            <a:r>
              <a:rPr lang="en" sz="5000">
                <a:solidFill>
                  <a:srgbClr val="0C2E6E"/>
                </a:solidFill>
                <a:latin typeface="Gotu"/>
                <a:ea typeface="Gotu"/>
                <a:cs typeface="Gotu"/>
                <a:sym typeface="Gotu"/>
              </a:rPr>
              <a:t> SQUID</a:t>
            </a:r>
            <a:endParaRPr b="0" i="0" sz="5000" u="none" cap="none" strike="noStrike">
              <a:solidFill>
                <a:srgbClr val="000000"/>
              </a:solidFill>
              <a:latin typeface="Noto Sans Symbols"/>
              <a:ea typeface="Noto Sans Symbols"/>
              <a:cs typeface="Noto Sans Symbols"/>
              <a:sym typeface="Noto Sans Symbols"/>
            </a:endParaRPr>
          </a:p>
        </p:txBody>
      </p:sp>
      <p:sp>
        <p:nvSpPr>
          <p:cNvPr id="91" name="Google Shape;91;p17"/>
          <p:cNvSpPr/>
          <p:nvPr/>
        </p:nvSpPr>
        <p:spPr>
          <a:xfrm>
            <a:off x="1612175" y="1915495"/>
            <a:ext cx="5686200" cy="761700"/>
          </a:xfrm>
          <a:prstGeom prst="rect">
            <a:avLst/>
          </a:prstGeom>
          <a:noFill/>
          <a:ln>
            <a:noFill/>
          </a:ln>
        </p:spPr>
        <p:txBody>
          <a:bodyPr anchorCtr="0" anchor="ctr" bIns="45700" lIns="91425" spcFirstLastPara="1" rIns="91425" wrap="square" tIns="45700">
            <a:noAutofit/>
          </a:bodyPr>
          <a:lstStyle/>
          <a:p>
            <a:pPr indent="0" lvl="0" marL="0" marR="0" rtl="0" algn="ctr">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Protecting oceans and securing Bluefin tuna through smart, eco-friendly cleanup technology.</a:t>
            </a:r>
            <a:endParaRPr b="0" i="0" sz="1600" u="none" cap="none" strike="noStrike">
              <a:solidFill>
                <a:srgbClr val="000000"/>
              </a:solidFill>
              <a:latin typeface="Noto Sans Symbols"/>
              <a:ea typeface="Noto Sans Symbols"/>
              <a:cs typeface="Noto Sans Symbols"/>
              <a:sym typeface="Noto Sans Symbols"/>
            </a:endParaRPr>
          </a:p>
        </p:txBody>
      </p:sp>
      <p:sp>
        <p:nvSpPr>
          <p:cNvPr id="92" name="Google Shape;92;p17"/>
          <p:cNvSpPr txBox="1"/>
          <p:nvPr/>
        </p:nvSpPr>
        <p:spPr>
          <a:xfrm>
            <a:off x="2955275" y="3195325"/>
            <a:ext cx="3000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2"/>
                </a:solidFill>
                <a:latin typeface="Courier New"/>
                <a:ea typeface="Courier New"/>
                <a:cs typeface="Courier New"/>
                <a:sym typeface="Courier New"/>
              </a:rPr>
              <a:t>Janakiraman,Harikrishnan</a:t>
            </a:r>
            <a:endParaRPr sz="15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lt2"/>
                </a:solidFill>
                <a:latin typeface="Courier New"/>
                <a:ea typeface="Courier New"/>
                <a:cs typeface="Courier New"/>
                <a:sym typeface="Courier New"/>
              </a:rPr>
              <a:t>Vekaria,Devin</a:t>
            </a:r>
            <a:endParaRPr sz="15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lt2"/>
                </a:solidFill>
                <a:latin typeface="Courier New"/>
                <a:ea typeface="Courier New"/>
                <a:cs typeface="Courier New"/>
                <a:sym typeface="Courier New"/>
              </a:rPr>
              <a:t>Bishoi, Pratyush</a:t>
            </a:r>
            <a:endParaRPr sz="15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lt2"/>
                </a:solidFill>
                <a:latin typeface="Courier New"/>
                <a:ea typeface="Courier New"/>
                <a:cs typeface="Courier New"/>
                <a:sym typeface="Courier New"/>
              </a:rPr>
              <a:t>Period 3-4 Science</a:t>
            </a:r>
            <a:endParaRPr sz="15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lt2"/>
                </a:solidFill>
                <a:latin typeface="Courier New"/>
                <a:ea typeface="Courier New"/>
                <a:cs typeface="Courier New"/>
                <a:sym typeface="Courier New"/>
              </a:rPr>
              <a:t>6-4-2026</a:t>
            </a:r>
            <a:endParaRPr sz="13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8"/>
          <p:cNvPicPr preferRelativeResize="0"/>
          <p:nvPr/>
        </p:nvPicPr>
        <p:blipFill rotWithShape="1">
          <a:blip r:embed="rId3">
            <a:alphaModFix/>
          </a:blip>
          <a:srcRect b="0" l="0" r="0" t="0"/>
          <a:stretch/>
        </p:blipFill>
        <p:spPr>
          <a:xfrm>
            <a:off x="685800" y="514440"/>
            <a:ext cx="3200040" cy="4114440"/>
          </a:xfrm>
          <a:prstGeom prst="rect">
            <a:avLst/>
          </a:prstGeom>
          <a:noFill/>
          <a:ln>
            <a:noFill/>
          </a:ln>
        </p:spPr>
      </p:pic>
      <p:sp>
        <p:nvSpPr>
          <p:cNvPr id="98" name="Google Shape;98;p18"/>
          <p:cNvSpPr/>
          <p:nvPr/>
        </p:nvSpPr>
        <p:spPr>
          <a:xfrm>
            <a:off x="5048280" y="762120"/>
            <a:ext cx="323820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Introduction</a:t>
            </a:r>
            <a:endParaRPr b="0" i="0" sz="2040" u="none" cap="none" strike="noStrike">
              <a:solidFill>
                <a:srgbClr val="000000"/>
              </a:solidFill>
              <a:latin typeface="Noto Sans Symbols"/>
              <a:ea typeface="Noto Sans Symbols"/>
              <a:cs typeface="Noto Sans Symbols"/>
              <a:sym typeface="Noto Sans Symbols"/>
            </a:endParaRPr>
          </a:p>
        </p:txBody>
      </p:sp>
      <p:sp>
        <p:nvSpPr>
          <p:cNvPr id="99" name="Google Shape;99;p18"/>
          <p:cNvSpPr/>
          <p:nvPr/>
        </p:nvSpPr>
        <p:spPr>
          <a:xfrm>
            <a:off x="4887505" y="1123545"/>
            <a:ext cx="3238200" cy="335220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The ocean is at a tipping point, and Bluefin tuna face direct threats from pollution. </a:t>
            </a:r>
            <a:r>
              <a:rPr lang="en" sz="1600">
                <a:solidFill>
                  <a:srgbClr val="0C2E6E"/>
                </a:solidFill>
                <a:latin typeface="Open Sans"/>
                <a:ea typeface="Open Sans"/>
                <a:cs typeface="Open Sans"/>
                <a:sym typeface="Open Sans"/>
              </a:rPr>
              <a:t>THE </a:t>
            </a:r>
            <a:r>
              <a:rPr lang="en" sz="1600">
                <a:solidFill>
                  <a:srgbClr val="0C2E6E"/>
                </a:solidFill>
                <a:latin typeface="Open Sans"/>
                <a:ea typeface="Open Sans"/>
                <a:cs typeface="Open Sans"/>
                <a:sym typeface="Open Sans"/>
              </a:rPr>
              <a:t>ABYSSAL</a:t>
            </a:r>
            <a:r>
              <a:rPr lang="en" sz="1600">
                <a:solidFill>
                  <a:srgbClr val="0C2E6E"/>
                </a:solidFill>
                <a:latin typeface="Open Sans"/>
                <a:ea typeface="Open Sans"/>
                <a:cs typeface="Open Sans"/>
                <a:sym typeface="Open Sans"/>
              </a:rPr>
              <a:t> SQUID</a:t>
            </a:r>
            <a:r>
              <a:rPr b="0" i="0" lang="en" sz="1600" u="none" cap="none" strike="noStrike">
                <a:solidFill>
                  <a:srgbClr val="0C2E6E"/>
                </a:solidFill>
                <a:latin typeface="Open Sans"/>
                <a:ea typeface="Open Sans"/>
                <a:cs typeface="Open Sans"/>
                <a:sym typeface="Open Sans"/>
              </a:rPr>
              <a:t> is a nature-first robotic system designed to remove plastics and restore marine health.</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Join us in turning cleanup into conservation—innovative, safe, and scalable.</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9"/>
          <p:cNvPicPr preferRelativeResize="0"/>
          <p:nvPr/>
        </p:nvPicPr>
        <p:blipFill rotWithShape="1">
          <a:blip r:embed="rId3">
            <a:alphaModFix/>
          </a:blip>
          <a:srcRect b="0" l="0" r="0" t="0"/>
          <a:stretch/>
        </p:blipFill>
        <p:spPr>
          <a:xfrm>
            <a:off x="5257800" y="514440"/>
            <a:ext cx="3200040" cy="4114440"/>
          </a:xfrm>
          <a:prstGeom prst="rect">
            <a:avLst/>
          </a:prstGeom>
          <a:noFill/>
          <a:ln>
            <a:noFill/>
          </a:ln>
        </p:spPr>
      </p:pic>
      <p:sp>
        <p:nvSpPr>
          <p:cNvPr id="105" name="Google Shape;105;p19"/>
          <p:cNvSpPr/>
          <p:nvPr/>
        </p:nvSpPr>
        <p:spPr>
          <a:xfrm>
            <a:off x="857160" y="762120"/>
            <a:ext cx="1904760" cy="76176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rPr b="0" i="0" lang="en" sz="4625" u="none" cap="none" strike="noStrike">
                <a:solidFill>
                  <a:srgbClr val="0C2E6E"/>
                </a:solidFill>
                <a:latin typeface="Gotu"/>
                <a:ea typeface="Gotu"/>
                <a:cs typeface="Gotu"/>
                <a:sym typeface="Gotu"/>
              </a:rPr>
              <a:t>01</a:t>
            </a:r>
            <a:endParaRPr b="0" i="0" sz="4625" u="none" cap="none" strike="noStrike">
              <a:solidFill>
                <a:srgbClr val="000000"/>
              </a:solidFill>
              <a:latin typeface="Noto Sans Symbols"/>
              <a:ea typeface="Noto Sans Symbols"/>
              <a:cs typeface="Noto Sans Symbols"/>
              <a:sym typeface="Noto Sans Symbols"/>
            </a:endParaRPr>
          </a:p>
        </p:txBody>
      </p:sp>
      <p:sp>
        <p:nvSpPr>
          <p:cNvPr id="106" name="Google Shape;106;p19"/>
          <p:cNvSpPr/>
          <p:nvPr/>
        </p:nvSpPr>
        <p:spPr>
          <a:xfrm>
            <a:off x="857160" y="1428840"/>
            <a:ext cx="3238200" cy="121896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rPr b="0" i="0" lang="en" sz="4000" u="none" cap="none" strike="noStrike">
                <a:solidFill>
                  <a:srgbClr val="0C2E6E"/>
                </a:solidFill>
                <a:latin typeface="Gotu"/>
                <a:ea typeface="Gotu"/>
                <a:cs typeface="Gotu"/>
                <a:sym typeface="Gotu"/>
              </a:rPr>
              <a:t>Problem &amp; Impact</a:t>
            </a:r>
            <a:endParaRPr b="0" i="0" sz="4000" u="none" cap="none" strike="noStrike">
              <a:solidFill>
                <a:srgbClr val="000000"/>
              </a:solidFill>
              <a:latin typeface="Noto Sans Symbols"/>
              <a:ea typeface="Noto Sans Symbols"/>
              <a:cs typeface="Noto Sans Symbols"/>
              <a:sym typeface="Noto Sans Symbols"/>
            </a:endParaRPr>
          </a:p>
        </p:txBody>
      </p:sp>
      <p:sp>
        <p:nvSpPr>
          <p:cNvPr id="107" name="Google Shape;107;p19"/>
          <p:cNvSpPr/>
          <p:nvPr/>
        </p:nvSpPr>
        <p:spPr>
          <a:xfrm>
            <a:off x="857160" y="3333600"/>
            <a:ext cx="3238200" cy="45684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p:nvPr/>
        </p:nvSpPr>
        <p:spPr>
          <a:xfrm>
            <a:off x="857160" y="762120"/>
            <a:ext cx="742932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Plastic Pollution</a:t>
            </a:r>
            <a:endParaRPr b="0" i="0" sz="2040" u="none" cap="none" strike="noStrike">
              <a:solidFill>
                <a:srgbClr val="000000"/>
              </a:solidFill>
              <a:latin typeface="Noto Sans Symbols"/>
              <a:ea typeface="Noto Sans Symbols"/>
              <a:cs typeface="Noto Sans Symbols"/>
              <a:sym typeface="Noto Sans Symbols"/>
            </a:endParaRPr>
          </a:p>
        </p:txBody>
      </p:sp>
      <p:sp>
        <p:nvSpPr>
          <p:cNvPr id="113" name="Google Shape;113;p20"/>
          <p:cNvSpPr/>
          <p:nvPr/>
        </p:nvSpPr>
        <p:spPr>
          <a:xfrm>
            <a:off x="857160" y="1905120"/>
            <a:ext cx="7429320" cy="19807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i="0" lang="en" sz="1600" u="none" cap="none" strike="noStrike">
                <a:solidFill>
                  <a:srgbClr val="0C2E6E"/>
                </a:solidFill>
                <a:latin typeface="Open Sans"/>
                <a:ea typeface="Open Sans"/>
                <a:cs typeface="Open Sans"/>
                <a:sym typeface="Open Sans"/>
              </a:rPr>
              <a:t>Over 8 million tons of plastic enter the ocean yearly, seeding </a:t>
            </a:r>
            <a:r>
              <a:rPr b="0" i="1" lang="en" sz="1600" u="none" cap="none" strike="noStrike">
                <a:solidFill>
                  <a:srgbClr val="0C2E6E"/>
                </a:solidFill>
                <a:latin typeface="Open Sans"/>
                <a:ea typeface="Open Sans"/>
                <a:cs typeface="Open Sans"/>
                <a:sym typeface="Open Sans"/>
              </a:rPr>
              <a:t>microplastics</a:t>
            </a:r>
            <a:r>
              <a:rPr b="0" i="0" lang="en" sz="1600" u="none" cap="none" strike="noStrike">
                <a:solidFill>
                  <a:srgbClr val="0C2E6E"/>
                </a:solidFill>
                <a:latin typeface="Open Sans"/>
                <a:ea typeface="Open Sans"/>
                <a:cs typeface="Open Sans"/>
                <a:sym typeface="Open Sans"/>
              </a:rPr>
              <a:t> into every food chain.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lang="en" sz="1600">
                <a:solidFill>
                  <a:schemeClr val="dk1"/>
                </a:solidFill>
                <a:latin typeface="Open Sans"/>
                <a:ea typeface="Open Sans"/>
                <a:cs typeface="Open Sans"/>
                <a:sym typeface="Open Sans"/>
              </a:rPr>
              <a:t>THE ABYSSAL SQUID </a:t>
            </a:r>
            <a:r>
              <a:rPr b="0" i="0" lang="en" sz="1600" u="none" cap="none" strike="noStrike">
                <a:solidFill>
                  <a:srgbClr val="0C2E6E"/>
                </a:solidFill>
                <a:latin typeface="Open Sans"/>
                <a:ea typeface="Open Sans"/>
                <a:cs typeface="Open Sans"/>
                <a:sym typeface="Open Sans"/>
              </a:rPr>
              <a:t>targets surface and micro debris with gentle collection, reducing ingestion risk for marine species and lowering long-term contamination. </a:t>
            </a:r>
            <a:r>
              <a:rPr b="1" i="0" lang="en" sz="1600" u="none" cap="none" strike="noStrike">
                <a:solidFill>
                  <a:srgbClr val="0C2E6E"/>
                </a:solidFill>
                <a:latin typeface="Open Sans"/>
                <a:ea typeface="Open Sans"/>
                <a:cs typeface="Open Sans"/>
                <a:sym typeface="Open Sans"/>
              </a:rPr>
              <a:t>8 million tons</a:t>
            </a:r>
            <a:r>
              <a:rPr b="0" i="0" lang="en" sz="1600" u="none" cap="none" strike="noStrike">
                <a:solidFill>
                  <a:srgbClr val="0C2E6E"/>
                </a:solidFill>
                <a:latin typeface="Open Sans"/>
                <a:ea typeface="Open Sans"/>
                <a:cs typeface="Open Sans"/>
                <a:sym typeface="Open Sans"/>
              </a:rPr>
              <a:t> underscores urgency.</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1"/>
          <p:cNvPicPr preferRelativeResize="0"/>
          <p:nvPr/>
        </p:nvPicPr>
        <p:blipFill rotWithShape="1">
          <a:blip r:embed="rId3">
            <a:alphaModFix/>
          </a:blip>
          <a:srcRect b="0" l="0" r="0" t="0"/>
          <a:stretch/>
        </p:blipFill>
        <p:spPr>
          <a:xfrm>
            <a:off x="5257800" y="514440"/>
            <a:ext cx="3200040" cy="4114440"/>
          </a:xfrm>
          <a:prstGeom prst="rect">
            <a:avLst/>
          </a:prstGeom>
          <a:noFill/>
          <a:ln>
            <a:noFill/>
          </a:ln>
        </p:spPr>
      </p:pic>
      <p:sp>
        <p:nvSpPr>
          <p:cNvPr id="119" name="Google Shape;119;p21"/>
          <p:cNvSpPr/>
          <p:nvPr/>
        </p:nvSpPr>
        <p:spPr>
          <a:xfrm>
            <a:off x="1333810" y="398445"/>
            <a:ext cx="3238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Marine Effects</a:t>
            </a:r>
            <a:endParaRPr b="0" i="0" sz="2040" u="none" cap="none" strike="noStrike">
              <a:solidFill>
                <a:srgbClr val="000000"/>
              </a:solidFill>
              <a:latin typeface="Noto Sans Symbols"/>
              <a:ea typeface="Noto Sans Symbols"/>
              <a:cs typeface="Noto Sans Symbols"/>
              <a:sym typeface="Noto Sans Symbols"/>
            </a:endParaRPr>
          </a:p>
        </p:txBody>
      </p:sp>
      <p:sp>
        <p:nvSpPr>
          <p:cNvPr id="120" name="Google Shape;120;p21"/>
          <p:cNvSpPr/>
          <p:nvPr/>
        </p:nvSpPr>
        <p:spPr>
          <a:xfrm>
            <a:off x="926435" y="1123545"/>
            <a:ext cx="3238200" cy="3962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i="0" lang="en" sz="1500" u="none" cap="none" strike="noStrike">
                <a:solidFill>
                  <a:srgbClr val="0C2E6E"/>
                </a:solidFill>
                <a:latin typeface="Open Sans"/>
                <a:ea typeface="Open Sans"/>
                <a:cs typeface="Open Sans"/>
                <a:sym typeface="Open Sans"/>
              </a:rPr>
              <a:t>Plastic and habitat damage poison wildlife, break coral reefs, and threaten fisheries. Bluefin tuna face bioaccumulation and food-chain collapse. </a:t>
            </a:r>
            <a:endParaRPr b="0" i="0" sz="15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i="0" sz="15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lang="en" sz="1600">
                <a:solidFill>
                  <a:schemeClr val="dk1"/>
                </a:solidFill>
                <a:latin typeface="Open Sans"/>
                <a:ea typeface="Open Sans"/>
                <a:cs typeface="Open Sans"/>
                <a:sym typeface="Open Sans"/>
              </a:rPr>
              <a:t>THE ABYSSAL SQUID</a:t>
            </a:r>
            <a:r>
              <a:rPr b="0" i="0" lang="en" sz="1500" u="none" cap="none" strike="noStrike">
                <a:solidFill>
                  <a:srgbClr val="0C2E6E"/>
                </a:solidFill>
                <a:latin typeface="Open Sans"/>
                <a:ea typeface="Open Sans"/>
                <a:cs typeface="Open Sans"/>
                <a:sym typeface="Open Sans"/>
              </a:rPr>
              <a:t> works with currents to remove pollutants safely, protecting habitats and supporting </a:t>
            </a:r>
            <a:r>
              <a:rPr b="1" i="0" lang="en" sz="1500" u="none" cap="none" strike="noStrike">
                <a:solidFill>
                  <a:srgbClr val="0C2E6E"/>
                </a:solidFill>
                <a:latin typeface="Open Sans"/>
                <a:ea typeface="Open Sans"/>
                <a:cs typeface="Open Sans"/>
                <a:sym typeface="Open Sans"/>
              </a:rPr>
              <a:t>Bluefin survival</a:t>
            </a:r>
            <a:r>
              <a:rPr b="0" i="0" lang="en" sz="1500" u="none" cap="none" strike="noStrike">
                <a:solidFill>
                  <a:srgbClr val="0C2E6E"/>
                </a:solidFill>
                <a:latin typeface="Open Sans"/>
                <a:ea typeface="Open Sans"/>
                <a:cs typeface="Open Sans"/>
                <a:sym typeface="Open Sans"/>
              </a:rPr>
              <a:t> while restoring ecosystem balance.</a:t>
            </a:r>
            <a:endParaRPr b="0" i="0" sz="15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p:nvPr/>
        </p:nvSpPr>
        <p:spPr>
          <a:xfrm>
            <a:off x="857160" y="762120"/>
            <a:ext cx="742932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Bluefin Threat</a:t>
            </a:r>
            <a:endParaRPr b="0" i="0" sz="2040" u="none" cap="none" strike="noStrike">
              <a:solidFill>
                <a:srgbClr val="000000"/>
              </a:solidFill>
              <a:latin typeface="Noto Sans Symbols"/>
              <a:ea typeface="Noto Sans Symbols"/>
              <a:cs typeface="Noto Sans Symbols"/>
              <a:sym typeface="Noto Sans Symbols"/>
            </a:endParaRPr>
          </a:p>
        </p:txBody>
      </p:sp>
      <p:sp>
        <p:nvSpPr>
          <p:cNvPr id="126" name="Google Shape;126;p22"/>
          <p:cNvSpPr/>
          <p:nvPr/>
        </p:nvSpPr>
        <p:spPr>
          <a:xfrm>
            <a:off x="857160" y="1905120"/>
            <a:ext cx="7429320" cy="182844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Bluefin tuna face declining populations due to pollution, overfishing, and habitat loss. Microplastics enter their food chain, causing long-term health and reproduction issues.</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Eco action now protects food webs and fisheries. </a:t>
            </a:r>
            <a:r>
              <a:rPr b="1" i="0" lang="en" sz="1600" u="none" cap="none" strike="noStrike">
                <a:solidFill>
                  <a:srgbClr val="0C2E6E"/>
                </a:solidFill>
                <a:latin typeface="Open Sans"/>
                <a:ea typeface="Open Sans"/>
                <a:cs typeface="Open Sans"/>
                <a:sym typeface="Open Sans"/>
              </a:rPr>
              <a:t>Bluefin survival</a:t>
            </a:r>
            <a:r>
              <a:rPr b="0" i="0" lang="en" sz="1600" u="none" cap="none" strike="noStrike">
                <a:solidFill>
                  <a:srgbClr val="0C2E6E"/>
                </a:solidFill>
                <a:latin typeface="Open Sans"/>
                <a:ea typeface="Open Sans"/>
                <a:cs typeface="Open Sans"/>
                <a:sym typeface="Open Sans"/>
              </a:rPr>
              <a:t> is critical for ocean balance and coastal livelihoods.</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3"/>
          <p:cNvPicPr preferRelativeResize="0"/>
          <p:nvPr/>
        </p:nvPicPr>
        <p:blipFill rotWithShape="1">
          <a:blip r:embed="rId3">
            <a:alphaModFix/>
          </a:blip>
          <a:srcRect b="0" l="0" r="0" t="0"/>
          <a:stretch/>
        </p:blipFill>
        <p:spPr>
          <a:xfrm>
            <a:off x="5257800" y="514440"/>
            <a:ext cx="3200040" cy="4114440"/>
          </a:xfrm>
          <a:prstGeom prst="rect">
            <a:avLst/>
          </a:prstGeom>
          <a:noFill/>
          <a:ln>
            <a:noFill/>
          </a:ln>
        </p:spPr>
      </p:pic>
      <p:sp>
        <p:nvSpPr>
          <p:cNvPr id="132" name="Google Shape;132;p23"/>
          <p:cNvSpPr/>
          <p:nvPr/>
        </p:nvSpPr>
        <p:spPr>
          <a:xfrm>
            <a:off x="857160" y="762120"/>
            <a:ext cx="1904760" cy="76176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rPr b="0" i="0" lang="en" sz="4625" u="none" cap="none" strike="noStrike">
                <a:solidFill>
                  <a:srgbClr val="0C2E6E"/>
                </a:solidFill>
                <a:latin typeface="Gotu"/>
                <a:ea typeface="Gotu"/>
                <a:cs typeface="Gotu"/>
                <a:sym typeface="Gotu"/>
              </a:rPr>
              <a:t>02</a:t>
            </a:r>
            <a:endParaRPr b="0" i="0" sz="4625" u="none" cap="none" strike="noStrike">
              <a:solidFill>
                <a:srgbClr val="000000"/>
              </a:solidFill>
              <a:latin typeface="Noto Sans Symbols"/>
              <a:ea typeface="Noto Sans Symbols"/>
              <a:cs typeface="Noto Sans Symbols"/>
              <a:sym typeface="Noto Sans Symbols"/>
            </a:endParaRPr>
          </a:p>
        </p:txBody>
      </p:sp>
      <p:sp>
        <p:nvSpPr>
          <p:cNvPr id="133" name="Google Shape;133;p23"/>
          <p:cNvSpPr/>
          <p:nvPr/>
        </p:nvSpPr>
        <p:spPr>
          <a:xfrm>
            <a:off x="857160" y="1428840"/>
            <a:ext cx="3238200" cy="1218960"/>
          </a:xfrm>
          <a:prstGeom prst="rect">
            <a:avLst/>
          </a:prstGeom>
          <a:noFill/>
          <a:ln>
            <a:noFill/>
          </a:ln>
        </p:spPr>
        <p:txBody>
          <a:bodyPr anchorCtr="0" anchor="t" bIns="45700" lIns="91425" spcFirstLastPara="1" rIns="91425" wrap="square" tIns="45700">
            <a:noAutofit/>
          </a:bodyPr>
          <a:lstStyle/>
          <a:p>
            <a:pPr indent="0" lvl="0" marL="0" rtl="0" algn="ctr">
              <a:lnSpc>
                <a:spcPct val="70001"/>
              </a:lnSpc>
              <a:spcBef>
                <a:spcPts val="0"/>
              </a:spcBef>
              <a:spcAft>
                <a:spcPts val="0"/>
              </a:spcAft>
              <a:buNone/>
            </a:pPr>
            <a:r>
              <a:rPr lang="en" sz="5000">
                <a:solidFill>
                  <a:schemeClr val="dk1"/>
                </a:solidFill>
                <a:latin typeface="Gotu"/>
                <a:ea typeface="Gotu"/>
                <a:cs typeface="Gotu"/>
                <a:sym typeface="Gotu"/>
              </a:rPr>
              <a:t>THE ABYSSAL SQUID</a:t>
            </a:r>
            <a:endParaRPr sz="5000">
              <a:latin typeface="Noto Sans Symbols"/>
              <a:ea typeface="Noto Sans Symbols"/>
              <a:cs typeface="Noto Sans Symbols"/>
              <a:sym typeface="Noto Sans Symbols"/>
            </a:endParaRPr>
          </a:p>
          <a:p>
            <a:pPr indent="0" lvl="0" marL="0" marR="0" rtl="0" algn="l">
              <a:lnSpc>
                <a:spcPct val="90001"/>
              </a:lnSpc>
              <a:spcBef>
                <a:spcPts val="0"/>
              </a:spcBef>
              <a:spcAft>
                <a:spcPts val="0"/>
              </a:spcAft>
              <a:buNone/>
            </a:pPr>
            <a:r>
              <a:rPr b="0" i="0" lang="en" sz="4000" u="none" cap="none" strike="noStrike">
                <a:solidFill>
                  <a:srgbClr val="0C2E6E"/>
                </a:solidFill>
                <a:latin typeface="Gotu"/>
                <a:ea typeface="Gotu"/>
                <a:cs typeface="Gotu"/>
                <a:sym typeface="Gotu"/>
              </a:rPr>
              <a:t> </a:t>
            </a:r>
            <a:r>
              <a:rPr b="0" i="0" lang="en" sz="5100" u="none" cap="none" strike="noStrike">
                <a:solidFill>
                  <a:srgbClr val="0C2E6E"/>
                </a:solidFill>
                <a:latin typeface="Gotu"/>
                <a:ea typeface="Gotu"/>
                <a:cs typeface="Gotu"/>
                <a:sym typeface="Gotu"/>
              </a:rPr>
              <a:t>Solution</a:t>
            </a:r>
            <a:endParaRPr b="0" i="0" sz="51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p:nvPr/>
        </p:nvSpPr>
        <p:spPr>
          <a:xfrm>
            <a:off x="857160" y="762120"/>
            <a:ext cx="742932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Design Overview</a:t>
            </a:r>
            <a:endParaRPr b="0" i="0" sz="2040" u="none" cap="none" strike="noStrike">
              <a:solidFill>
                <a:srgbClr val="000000"/>
              </a:solidFill>
              <a:latin typeface="Noto Sans Symbols"/>
              <a:ea typeface="Noto Sans Symbols"/>
              <a:cs typeface="Noto Sans Symbols"/>
              <a:sym typeface="Noto Sans Symbols"/>
            </a:endParaRPr>
          </a:p>
        </p:txBody>
      </p:sp>
      <p:sp>
        <p:nvSpPr>
          <p:cNvPr id="139" name="Google Shape;139;p24"/>
          <p:cNvSpPr/>
          <p:nvPr/>
        </p:nvSpPr>
        <p:spPr>
          <a:xfrm>
            <a:off x="857160" y="1905120"/>
            <a:ext cx="7429320" cy="167616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i="1" lang="en" sz="1480">
                <a:solidFill>
                  <a:srgbClr val="0C2E6E"/>
                </a:solidFill>
                <a:latin typeface="Open Sans"/>
                <a:ea typeface="Open Sans"/>
                <a:cs typeface="Open Sans"/>
                <a:sym typeface="Open Sans"/>
              </a:rPr>
              <a:t>Abyssal Squid </a:t>
            </a:r>
            <a:r>
              <a:rPr b="0" i="0" lang="en" sz="1480" u="none" cap="none" strike="noStrike">
                <a:solidFill>
                  <a:srgbClr val="0C2E6E"/>
                </a:solidFill>
                <a:latin typeface="Open Sans"/>
                <a:ea typeface="Open Sans"/>
                <a:cs typeface="Open Sans"/>
                <a:sym typeface="Open Sans"/>
              </a:rPr>
              <a:t>is a robotic, ocean-friendly cleaner that moves with currents to collect surface and micro debris without harming wildlife.</a:t>
            </a:r>
            <a:endParaRPr b="0" i="0" sz="148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i="0" sz="148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i="0" lang="en" sz="1480" u="none" cap="none" strike="noStrike">
                <a:solidFill>
                  <a:srgbClr val="0C2E6E"/>
                </a:solidFill>
                <a:latin typeface="Open Sans"/>
                <a:ea typeface="Open Sans"/>
                <a:cs typeface="Open Sans"/>
                <a:sym typeface="Open Sans"/>
              </a:rPr>
              <a:t>Its passive collection tentacles and smart navigation focus cleanup where it's most needed, scaling from local bays to open seas.</a:t>
            </a:r>
            <a:endParaRPr b="0" i="0" sz="148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5"/>
          <p:cNvPicPr preferRelativeResize="0"/>
          <p:nvPr/>
        </p:nvPicPr>
        <p:blipFill rotWithShape="1">
          <a:blip r:embed="rId3">
            <a:alphaModFix/>
          </a:blip>
          <a:srcRect b="0" l="0" r="0" t="0"/>
          <a:stretch/>
        </p:blipFill>
        <p:spPr>
          <a:xfrm>
            <a:off x="5257800" y="514440"/>
            <a:ext cx="3200040" cy="4114440"/>
          </a:xfrm>
          <a:prstGeom prst="rect">
            <a:avLst/>
          </a:prstGeom>
          <a:noFill/>
          <a:ln>
            <a:noFill/>
          </a:ln>
        </p:spPr>
      </p:pic>
      <p:sp>
        <p:nvSpPr>
          <p:cNvPr id="145" name="Google Shape;145;p25"/>
          <p:cNvSpPr/>
          <p:nvPr/>
        </p:nvSpPr>
        <p:spPr>
          <a:xfrm>
            <a:off x="857160" y="762120"/>
            <a:ext cx="323820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Control Center</a:t>
            </a:r>
            <a:endParaRPr b="0" i="0" sz="2040" u="none" cap="none" strike="noStrike">
              <a:solidFill>
                <a:srgbClr val="000000"/>
              </a:solidFill>
              <a:latin typeface="Noto Sans Symbols"/>
              <a:ea typeface="Noto Sans Symbols"/>
              <a:cs typeface="Noto Sans Symbols"/>
              <a:sym typeface="Noto Sans Symbols"/>
            </a:endParaRPr>
          </a:p>
        </p:txBody>
      </p:sp>
      <p:sp>
        <p:nvSpPr>
          <p:cNvPr id="146" name="Google Shape;146;p25"/>
          <p:cNvSpPr/>
          <p:nvPr/>
        </p:nvSpPr>
        <p:spPr>
          <a:xfrm>
            <a:off x="857160" y="1905120"/>
            <a:ext cx="3238200" cy="304776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i="0" lang="en" sz="1480" u="none" cap="none" strike="noStrike">
                <a:solidFill>
                  <a:srgbClr val="0C2E6E"/>
                </a:solidFill>
                <a:latin typeface="Open Sans"/>
                <a:ea typeface="Open Sans"/>
                <a:cs typeface="Open Sans"/>
                <a:sym typeface="Open Sans"/>
              </a:rPr>
              <a:t>The control head houses navigation, power, and processing: Arduino-based control, waterproof dome, and battery pack.</a:t>
            </a:r>
            <a:endParaRPr b="0" i="0" sz="148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i="0" sz="148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i="0" lang="en" sz="1480" u="none" cap="none" strike="noStrike">
                <a:solidFill>
                  <a:srgbClr val="0C2E6E"/>
                </a:solidFill>
                <a:latin typeface="Open Sans"/>
                <a:ea typeface="Open Sans"/>
                <a:cs typeface="Open Sans"/>
                <a:sym typeface="Open Sans"/>
              </a:rPr>
              <a:t>Sensors guide safe routes and target pollution hotspots while protecting coral and marine life through intelligent avoidance.</a:t>
            </a:r>
            <a:endParaRPr b="0" i="0" sz="1480" u="none" cap="none" strike="noStrike">
              <a:solidFill>
                <a:srgbClr val="0C2E6E"/>
              </a:solidFill>
              <a:latin typeface="Open Sans"/>
              <a:ea typeface="Open Sans"/>
              <a:cs typeface="Open Sans"/>
              <a:sym typeface="Open Sans"/>
            </a:endParaRPr>
          </a:p>
          <a:p>
            <a:pPr indent="0" lvl="0" marL="0" marR="0" rtl="0" algn="l">
              <a:lnSpc>
                <a:spcPct val="140001"/>
              </a:lnSpc>
              <a:spcBef>
                <a:spcPts val="0"/>
              </a:spcBef>
              <a:spcAft>
                <a:spcPts val="0"/>
              </a:spcAft>
              <a:buNone/>
            </a:pPr>
            <a:r>
              <a:t/>
            </a:r>
            <a:endParaRPr sz="1480">
              <a:solidFill>
                <a:srgbClr val="0C2E6E"/>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p:nvPr/>
        </p:nvSpPr>
        <p:spPr>
          <a:xfrm>
            <a:off x="857160" y="762120"/>
            <a:ext cx="742932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Sustainability</a:t>
            </a:r>
            <a:endParaRPr b="0" i="0" sz="2040" u="none" cap="none" strike="noStrike">
              <a:solidFill>
                <a:srgbClr val="000000"/>
              </a:solidFill>
              <a:latin typeface="Noto Sans Symbols"/>
              <a:ea typeface="Noto Sans Symbols"/>
              <a:cs typeface="Noto Sans Symbols"/>
              <a:sym typeface="Noto Sans Symbols"/>
            </a:endParaRPr>
          </a:p>
        </p:txBody>
      </p:sp>
      <p:sp>
        <p:nvSpPr>
          <p:cNvPr id="152" name="Google Shape;152;p26"/>
          <p:cNvSpPr/>
          <p:nvPr/>
        </p:nvSpPr>
        <p:spPr>
          <a:xfrm>
            <a:off x="857160" y="1905120"/>
            <a:ext cx="7429320" cy="182844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Built from recycled materials and non-toxic components, </a:t>
            </a:r>
            <a:r>
              <a:rPr lang="en" sz="1600">
                <a:solidFill>
                  <a:schemeClr val="dk1"/>
                </a:solidFill>
                <a:latin typeface="Open Sans"/>
                <a:ea typeface="Open Sans"/>
                <a:cs typeface="Open Sans"/>
                <a:sym typeface="Open Sans"/>
              </a:rPr>
              <a:t>THE ABYSSAL SQUID</a:t>
            </a:r>
            <a:r>
              <a:rPr b="0" i="0" lang="en" sz="1600" u="none" cap="none" strike="noStrike">
                <a:solidFill>
                  <a:srgbClr val="0C2E6E"/>
                </a:solidFill>
                <a:latin typeface="Open Sans"/>
                <a:ea typeface="Open Sans"/>
                <a:cs typeface="Open Sans"/>
                <a:sym typeface="Open Sans"/>
              </a:rPr>
              <a:t> operates without fuel and minimizes disturbance to ecosystems.</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b="0" i="0" lang="en" sz="1600" u="none" cap="none" strike="noStrike">
                <a:solidFill>
                  <a:srgbClr val="0C2E6E"/>
                </a:solidFill>
                <a:latin typeface="Open Sans"/>
                <a:ea typeface="Open Sans"/>
                <a:cs typeface="Open Sans"/>
                <a:sym typeface="Open Sans"/>
              </a:rPr>
              <a:t>Designed for long-term deployment and easy maintenance, it supports circular solutions and community-led conservation. </a:t>
            </a:r>
            <a:r>
              <a:rPr b="1" i="0" lang="en" sz="1600" u="none" cap="none" strike="noStrike">
                <a:solidFill>
                  <a:srgbClr val="0C2E6E"/>
                </a:solidFill>
                <a:latin typeface="Open Sans"/>
                <a:ea typeface="Open Sans"/>
                <a:cs typeface="Open Sans"/>
                <a:sym typeface="Open Sans"/>
              </a:rPr>
              <a:t>Zero-fuel footprint</a:t>
            </a:r>
            <a:r>
              <a:rPr b="0" i="0" lang="en" sz="1600" u="none" cap="none" strike="noStrike">
                <a:solidFill>
                  <a:srgbClr val="0C2E6E"/>
                </a:solidFill>
                <a:latin typeface="Open Sans"/>
                <a:ea typeface="Open Sans"/>
                <a:cs typeface="Open Sans"/>
                <a:sym typeface="Open Sans"/>
              </a:rPr>
              <a:t> promotes true sustainability.</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p:nvPr/>
        </p:nvSpPr>
        <p:spPr>
          <a:xfrm>
            <a:off x="857160" y="762120"/>
            <a:ext cx="7429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lang="en" sz="2040">
                <a:solidFill>
                  <a:srgbClr val="0C2E6E"/>
                </a:solidFill>
                <a:latin typeface="Gotu"/>
                <a:ea typeface="Gotu"/>
                <a:cs typeface="Gotu"/>
                <a:sym typeface="Gotu"/>
              </a:rPr>
              <a:t>Intelligence</a:t>
            </a:r>
            <a:endParaRPr b="0" i="0" sz="2040" u="none" cap="none" strike="noStrike">
              <a:solidFill>
                <a:srgbClr val="000000"/>
              </a:solidFill>
              <a:latin typeface="Noto Sans Symbols"/>
              <a:ea typeface="Noto Sans Symbols"/>
              <a:cs typeface="Noto Sans Symbols"/>
              <a:sym typeface="Noto Sans Symbols"/>
            </a:endParaRPr>
          </a:p>
        </p:txBody>
      </p:sp>
      <p:sp>
        <p:nvSpPr>
          <p:cNvPr id="158" name="Google Shape;158;p27"/>
          <p:cNvSpPr/>
          <p:nvPr/>
        </p:nvSpPr>
        <p:spPr>
          <a:xfrm>
            <a:off x="857160" y="1905120"/>
            <a:ext cx="7429200" cy="182850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lang="en" sz="1600">
                <a:solidFill>
                  <a:srgbClr val="0C2E6E"/>
                </a:solidFill>
                <a:latin typeface="Open Sans"/>
                <a:ea typeface="Open Sans"/>
                <a:cs typeface="Open Sans"/>
                <a:sym typeface="Open Sans"/>
              </a:rPr>
              <a:t>With Pristine AI, an purpose built AI that is trained by humans, Abyssal Squid calculates the type of plastics, such as the difference between floating plastics that have just been dumped and microplastics that even the most observant creatures can’t detect.</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p:nvPr/>
        </p:nvSpPr>
        <p:spPr>
          <a:xfrm>
            <a:off x="857410" y="537920"/>
            <a:ext cx="7429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lang="en" sz="2040">
                <a:solidFill>
                  <a:srgbClr val="0C2E6E"/>
                </a:solidFill>
                <a:latin typeface="Gotu"/>
                <a:ea typeface="Gotu"/>
                <a:cs typeface="Gotu"/>
                <a:sym typeface="Gotu"/>
              </a:rPr>
              <a:t>Our Offer</a:t>
            </a:r>
            <a:endParaRPr b="0" i="0" sz="2040" u="none" cap="none" strike="noStrike">
              <a:solidFill>
                <a:srgbClr val="000000"/>
              </a:solidFill>
              <a:latin typeface="Noto Sans Symbols"/>
              <a:ea typeface="Noto Sans Symbols"/>
              <a:cs typeface="Noto Sans Symbols"/>
              <a:sym typeface="Noto Sans Symbols"/>
            </a:endParaRPr>
          </a:p>
        </p:txBody>
      </p:sp>
      <p:sp>
        <p:nvSpPr>
          <p:cNvPr id="164" name="Google Shape;164;p28"/>
          <p:cNvSpPr/>
          <p:nvPr/>
        </p:nvSpPr>
        <p:spPr>
          <a:xfrm>
            <a:off x="857410" y="899416"/>
            <a:ext cx="7429200" cy="1828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900"/>
              </a:spcBef>
              <a:spcAft>
                <a:spcPts val="0"/>
              </a:spcAft>
              <a:buNone/>
            </a:pPr>
            <a:r>
              <a:rPr lang="en" sz="1200">
                <a:latin typeface="Google Sans"/>
                <a:ea typeface="Google Sans"/>
                <a:cs typeface="Google Sans"/>
                <a:sym typeface="Google Sans"/>
              </a:rPr>
              <a:t>We are offering a 20% equity stake in our company for an investment of $67,500 to launch a scalable bio-mimicking ocean purification fleet.</a:t>
            </a:r>
            <a:endParaRPr sz="1200">
              <a:latin typeface="Google Sans"/>
              <a:ea typeface="Google Sans"/>
              <a:cs typeface="Google Sans"/>
              <a:sym typeface="Google Sans"/>
            </a:endParaRPr>
          </a:p>
          <a:p>
            <a:pPr indent="0" lvl="0" marL="0" rtl="0" algn="l">
              <a:lnSpc>
                <a:spcPct val="115000"/>
              </a:lnSpc>
              <a:spcBef>
                <a:spcPts val="1200"/>
              </a:spcBef>
              <a:spcAft>
                <a:spcPts val="0"/>
              </a:spcAft>
              <a:buNone/>
            </a:pPr>
            <a:r>
              <a:rPr lang="en" sz="1200">
                <a:latin typeface="Google Sans"/>
                <a:ea typeface="Google Sans"/>
                <a:cs typeface="Google Sans"/>
                <a:sym typeface="Google Sans"/>
              </a:rPr>
              <a:t>By manufacturing a specialized fleet of 1,400 "squid" units at a highly optimized cost of $96.35 per unit, we can completely filter 8,000,000 tons of ocean water in under a year. Each individual squid unit autonomously purifies 16 tons of water per day. With half of our total project funding already secured through a strategic partnership with Team Seas, we are looking for a final partner to bridge the remaining $67,500 gap and deploy this fleet globally.</a:t>
            </a:r>
            <a:endParaRPr sz="1200">
              <a:latin typeface="Google Sans"/>
              <a:ea typeface="Google Sans"/>
              <a:cs typeface="Google Sans"/>
              <a:sym typeface="Google Sans"/>
            </a:endParaRPr>
          </a:p>
          <a:p>
            <a:pPr indent="0" lvl="0" marL="0" marR="0" rtl="0" algn="l">
              <a:lnSpc>
                <a:spcPct val="140001"/>
              </a:lnSpc>
              <a:spcBef>
                <a:spcPts val="1200"/>
              </a:spcBef>
              <a:spcAft>
                <a:spcPts val="0"/>
              </a:spcAft>
              <a:buNone/>
            </a:pPr>
            <a:r>
              <a:t/>
            </a:r>
            <a:endParaRPr sz="1600">
              <a:latin typeface="Noto Sans Symbols"/>
              <a:ea typeface="Noto Sans Symbols"/>
              <a:cs typeface="Noto Sans Symbols"/>
              <a:sym typeface="Noto Sans Symbols"/>
            </a:endParaRPr>
          </a:p>
        </p:txBody>
      </p:sp>
      <p:sp>
        <p:nvSpPr>
          <p:cNvPr id="165" name="Google Shape;165;p28"/>
          <p:cNvSpPr txBox="1"/>
          <p:nvPr/>
        </p:nvSpPr>
        <p:spPr>
          <a:xfrm>
            <a:off x="-158250" y="2488200"/>
            <a:ext cx="6594300" cy="705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900"/>
              </a:spcBef>
              <a:spcAft>
                <a:spcPts val="0"/>
              </a:spcAft>
              <a:buNone/>
            </a:pPr>
            <a:r>
              <a:t/>
            </a:r>
            <a:endParaRPr sz="1200">
              <a:latin typeface="Google Sans"/>
              <a:ea typeface="Google Sans"/>
              <a:cs typeface="Google Sans"/>
              <a:sym typeface="Google Sans"/>
            </a:endParaRPr>
          </a:p>
          <a:p>
            <a:pPr indent="0" lvl="0" marL="0" rtl="0" algn="ctr">
              <a:lnSpc>
                <a:spcPct val="115000"/>
              </a:lnSpc>
              <a:spcBef>
                <a:spcPts val="1200"/>
              </a:spcBef>
              <a:spcAft>
                <a:spcPts val="1200"/>
              </a:spcAft>
              <a:buNone/>
            </a:pPr>
            <a:r>
              <a:t/>
            </a:r>
            <a:endParaRPr sz="1000">
              <a:latin typeface="Google Sans"/>
              <a:ea typeface="Google Sans"/>
              <a:cs typeface="Google Sans"/>
              <a:sym typeface="Google Sans"/>
            </a:endParaRPr>
          </a:p>
        </p:txBody>
      </p:sp>
      <p:sp>
        <p:nvSpPr>
          <p:cNvPr id="166" name="Google Shape;166;p28"/>
          <p:cNvSpPr txBox="1"/>
          <p:nvPr/>
        </p:nvSpPr>
        <p:spPr>
          <a:xfrm>
            <a:off x="2175300" y="2727925"/>
            <a:ext cx="4793400" cy="2160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6000"/>
              </a:lnSpc>
              <a:spcBef>
                <a:spcPts val="900"/>
              </a:spcBef>
              <a:spcAft>
                <a:spcPts val="0"/>
              </a:spcAft>
              <a:buNone/>
            </a:pPr>
            <a:r>
              <a:rPr lang="en">
                <a:latin typeface="Google Sans Code"/>
                <a:ea typeface="Google Sans Code"/>
                <a:cs typeface="Google Sans Code"/>
                <a:sym typeface="Google Sans Code"/>
              </a:rPr>
              <a:t>THE MATH</a:t>
            </a:r>
            <a:endParaRPr>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Manufacturing Cost</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1,400 units × $96.35 = $134,890 (Budget: $135,000)</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Daily Fleet Capacity</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1 unit = 16 tons per day</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1,400 units × 16 tons = 22,400 tons per day</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Purification Timeline</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8,000,000 tons </a:t>
            </a:r>
            <a:r>
              <a:rPr lang="en" sz="1200">
                <a:latin typeface="Google Sans Code"/>
                <a:ea typeface="Google Sans Code"/>
                <a:cs typeface="Google Sans Code"/>
                <a:sym typeface="Google Sans Code"/>
              </a:rPr>
              <a:t>÷ 22,400 tons per day = 357.14 days</a:t>
            </a:r>
            <a:endParaRPr sz="12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t/>
            </a:r>
            <a:endParaRPr>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a:latin typeface="Google Sans Code"/>
                <a:ea typeface="Google Sans Code"/>
                <a:cs typeface="Google Sans Code"/>
                <a:sym typeface="Google Sans Code"/>
              </a:rPr>
              <a:t>Investment Breakdown</a:t>
            </a:r>
            <a:endParaRPr>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Total needed: $135,000</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Team Seas: $67,500</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0"/>
              </a:spcAft>
              <a:buNone/>
            </a:pPr>
            <a:r>
              <a:rPr lang="en" sz="1100">
                <a:latin typeface="Google Sans Code"/>
                <a:ea typeface="Google Sans Code"/>
                <a:cs typeface="Google Sans Code"/>
                <a:sym typeface="Google Sans Code"/>
              </a:rPr>
              <a:t>Your investment: $67,500</a:t>
            </a:r>
            <a:endParaRPr sz="1100">
              <a:latin typeface="Google Sans Code"/>
              <a:ea typeface="Google Sans Code"/>
              <a:cs typeface="Google Sans Code"/>
              <a:sym typeface="Google Sans Code"/>
            </a:endParaRPr>
          </a:p>
          <a:p>
            <a:pPr indent="0" lvl="0" marL="0" rtl="0" algn="ctr">
              <a:lnSpc>
                <a:spcPct val="6000"/>
              </a:lnSpc>
              <a:spcBef>
                <a:spcPts val="1200"/>
              </a:spcBef>
              <a:spcAft>
                <a:spcPts val="1200"/>
              </a:spcAft>
              <a:buNone/>
            </a:pPr>
            <a:r>
              <a:rPr lang="en" sz="1100">
                <a:latin typeface="Google Sans Code"/>
                <a:ea typeface="Google Sans Code"/>
                <a:cs typeface="Google Sans Code"/>
                <a:sym typeface="Google Sans Code"/>
              </a:rPr>
              <a:t>Equity: 20%</a:t>
            </a:r>
            <a:endParaRPr sz="1300">
              <a:latin typeface="Google Sans Code"/>
              <a:ea typeface="Google Sans Code"/>
              <a:cs typeface="Google Sans Code"/>
              <a:sym typeface="Google Sans Cod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p:nvPr/>
        </p:nvSpPr>
        <p:spPr>
          <a:xfrm>
            <a:off x="857160" y="762120"/>
            <a:ext cx="742932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0" i="0" lang="en" sz="2040" u="none" cap="none" strike="noStrike">
                <a:solidFill>
                  <a:srgbClr val="0C2E6E"/>
                </a:solidFill>
                <a:latin typeface="Gotu"/>
                <a:ea typeface="Gotu"/>
                <a:cs typeface="Gotu"/>
                <a:sym typeface="Gotu"/>
              </a:rPr>
              <a:t>Conclusions</a:t>
            </a:r>
            <a:endParaRPr b="0" i="0" sz="2040" u="none" cap="none" strike="noStrike">
              <a:solidFill>
                <a:srgbClr val="000000"/>
              </a:solidFill>
              <a:latin typeface="Noto Sans Symbols"/>
              <a:ea typeface="Noto Sans Symbols"/>
              <a:cs typeface="Noto Sans Symbols"/>
              <a:sym typeface="Noto Sans Symbols"/>
            </a:endParaRPr>
          </a:p>
        </p:txBody>
      </p:sp>
      <p:sp>
        <p:nvSpPr>
          <p:cNvPr id="172" name="Google Shape;172;p29"/>
          <p:cNvSpPr/>
          <p:nvPr/>
        </p:nvSpPr>
        <p:spPr>
          <a:xfrm>
            <a:off x="857160" y="1905120"/>
            <a:ext cx="7429320" cy="167616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600">
                <a:solidFill>
                  <a:schemeClr val="dk1"/>
                </a:solidFill>
                <a:latin typeface="Open Sans"/>
                <a:ea typeface="Open Sans"/>
                <a:cs typeface="Open Sans"/>
                <a:sym typeface="Open Sans"/>
              </a:rPr>
              <a:t>THE ABYSSAL SQUID</a:t>
            </a:r>
            <a:r>
              <a:rPr b="0" i="0" lang="en" sz="1600" u="none" cap="none" strike="noStrike">
                <a:solidFill>
                  <a:srgbClr val="0C2E6E"/>
                </a:solidFill>
                <a:latin typeface="Open Sans"/>
                <a:ea typeface="Open Sans"/>
                <a:cs typeface="Open Sans"/>
                <a:sym typeface="Open Sans"/>
              </a:rPr>
              <a:t> offers a scalable, nature-aligned path to reduce plastics and protect Bluefin tuna.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0" i="0" sz="1600" u="none" cap="none" strike="noStrike">
              <a:solidFill>
                <a:srgbClr val="000000"/>
              </a:solidFill>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rPr b="0" i="0" lang="en" sz="1600" u="none" cap="none" strike="noStrike">
                <a:solidFill>
                  <a:srgbClr val="0C2E6E"/>
                </a:solidFill>
                <a:latin typeface="Open Sans"/>
                <a:ea typeface="Open Sans"/>
                <a:cs typeface="Open Sans"/>
                <a:sym typeface="Open Sans"/>
              </a:rPr>
              <a:t>Join the movement to restore ocean health—innovate, deploy, and preserve our marine future.</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631325" y="873185"/>
            <a:ext cx="7703700" cy="1437600"/>
          </a:xfrm>
          <a:prstGeom prst="rect">
            <a:avLst/>
          </a:prstGeom>
        </p:spPr>
        <p:txBody>
          <a:bodyPr anchorCtr="0" anchor="t" bIns="91425" lIns="91425" spcFirstLastPara="1" rIns="91425" wrap="square" tIns="91425">
            <a:noAutofit/>
          </a:bodyPr>
          <a:lstStyle/>
          <a:p>
            <a:pPr indent="0" lvl="0" marL="0" rtl="0" algn="ctr">
              <a:lnSpc>
                <a:spcPct val="70001"/>
              </a:lnSpc>
              <a:spcBef>
                <a:spcPts val="0"/>
              </a:spcBef>
              <a:spcAft>
                <a:spcPts val="0"/>
              </a:spcAft>
              <a:buClr>
                <a:srgbClr val="000000"/>
              </a:buClr>
              <a:buFont typeface="Arial"/>
              <a:buNone/>
            </a:pPr>
            <a:r>
              <a:rPr lang="en" sz="3500">
                <a:solidFill>
                  <a:schemeClr val="dk1"/>
                </a:solidFill>
                <a:latin typeface="Gotu"/>
                <a:ea typeface="Gotu"/>
                <a:cs typeface="Gotu"/>
                <a:sym typeface="Gotu"/>
              </a:rPr>
              <a:t>We would be truly honored to partner with you, and we wish you every success ahead.</a:t>
            </a:r>
            <a:endParaRPr sz="2800">
              <a:latin typeface="Noto Sans Symbols"/>
              <a:ea typeface="Noto Sans Symbols"/>
              <a:cs typeface="Noto Sans Symbols"/>
              <a:sym typeface="Noto Sans Symbols"/>
            </a:endParaRPr>
          </a:p>
          <a:p>
            <a:pPr indent="0" lvl="0" marL="0" rtl="0" algn="l">
              <a:spcBef>
                <a:spcPts val="0"/>
              </a:spcBef>
              <a:spcAft>
                <a:spcPts val="0"/>
              </a:spcAft>
              <a:buNone/>
            </a:pPr>
            <a:r>
              <a:t/>
            </a:r>
            <a:endParaRPr sz="200"/>
          </a:p>
        </p:txBody>
      </p:sp>
      <p:sp>
        <p:nvSpPr>
          <p:cNvPr id="178" name="Google Shape;178;p30"/>
          <p:cNvSpPr txBox="1"/>
          <p:nvPr/>
        </p:nvSpPr>
        <p:spPr>
          <a:xfrm>
            <a:off x="716275" y="2310800"/>
            <a:ext cx="7360200" cy="53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Gotu"/>
                <a:ea typeface="Gotu"/>
                <a:cs typeface="Gotu"/>
                <a:sym typeface="Gotu"/>
              </a:rPr>
              <a:t>We hope you will give us funds to clean your home!</a:t>
            </a:r>
            <a:endParaRPr sz="2100">
              <a:solidFill>
                <a:schemeClr val="lt1"/>
              </a:solidFill>
              <a:latin typeface="Gotu"/>
              <a:ea typeface="Gotu"/>
              <a:cs typeface="Gotu"/>
              <a:sym typeface="Gotu"/>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179" name="Google Shape;179;p30"/>
          <p:cNvSpPr txBox="1"/>
          <p:nvPr/>
        </p:nvSpPr>
        <p:spPr>
          <a:xfrm>
            <a:off x="1905000" y="2944100"/>
            <a:ext cx="72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0" name="Google Shape;180;p30"/>
          <p:cNvSpPr txBox="1"/>
          <p:nvPr/>
        </p:nvSpPr>
        <p:spPr>
          <a:xfrm>
            <a:off x="2057400" y="3096500"/>
            <a:ext cx="72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1" name="Google Shape;181;p30"/>
          <p:cNvSpPr txBox="1"/>
          <p:nvPr/>
        </p:nvSpPr>
        <p:spPr>
          <a:xfrm>
            <a:off x="2209800" y="3248900"/>
            <a:ext cx="72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2" name="Google Shape;182;p30"/>
          <p:cNvSpPr txBox="1"/>
          <p:nvPr/>
        </p:nvSpPr>
        <p:spPr>
          <a:xfrm>
            <a:off x="2362200" y="3401300"/>
            <a:ext cx="72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3" name="Google Shape;183;p30"/>
          <p:cNvSpPr txBox="1"/>
          <p:nvPr/>
        </p:nvSpPr>
        <p:spPr>
          <a:xfrm>
            <a:off x="2209800" y="2880950"/>
            <a:ext cx="49419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Noto Sans"/>
                <a:ea typeface="Noto Sans"/>
                <a:cs typeface="Noto Sans"/>
                <a:sym typeface="Noto Sans"/>
              </a:rPr>
              <a:t>Eco-TankSquid</a:t>
            </a:r>
            <a:r>
              <a:rPr lang="en">
                <a:latin typeface="Noto Sans"/>
                <a:ea typeface="Noto Sans"/>
                <a:cs typeface="Noto Sans"/>
                <a:sym typeface="Noto Sans"/>
              </a:rPr>
              <a:t>@gmail.com</a:t>
            </a:r>
            <a:endParaRPr>
              <a:latin typeface="Noto Sans"/>
              <a:ea typeface="Noto Sans"/>
              <a:cs typeface="Noto Sans"/>
              <a:sym typeface="Noto Sans"/>
            </a:endParaRPr>
          </a:p>
          <a:p>
            <a:pPr indent="0" lvl="0" marL="0" rtl="0" algn="ctr">
              <a:spcBef>
                <a:spcPts val="0"/>
              </a:spcBef>
              <a:spcAft>
                <a:spcPts val="0"/>
              </a:spcAft>
              <a:buNone/>
            </a:pPr>
            <a:r>
              <a:rPr lang="en">
                <a:latin typeface="Noto Sans"/>
                <a:ea typeface="Noto Sans"/>
                <a:cs typeface="Noto Sans"/>
                <a:sym typeface="Noto Sans"/>
              </a:rPr>
              <a:t>+(676) - 676 6767</a:t>
            </a:r>
            <a:endParaRPr>
              <a:latin typeface="Noto Sans"/>
              <a:ea typeface="Noto Sans"/>
              <a:cs typeface="Noto Sans"/>
              <a:sym typeface="Noto Sans"/>
            </a:endParaRPr>
          </a:p>
          <a:p>
            <a:pPr indent="0" lvl="0" marL="0" rtl="0" algn="ctr">
              <a:spcBef>
                <a:spcPts val="0"/>
              </a:spcBef>
              <a:spcAft>
                <a:spcPts val="0"/>
              </a:spcAft>
              <a:buNone/>
            </a:pPr>
            <a:r>
              <a:rPr lang="en" sz="1100" u="sng">
                <a:solidFill>
                  <a:schemeClr val="hlink"/>
                </a:solidFill>
                <a:highlight>
                  <a:srgbClr val="FFFFFF"/>
                </a:highlight>
                <a:latin typeface="Noto Sans"/>
                <a:ea typeface="Noto Sans"/>
                <a:cs typeface="Noto Sans"/>
                <a:sym typeface="Noto Sans"/>
                <a:hlinkClick r:id="rId3"/>
              </a:rPr>
              <a:t>https://sites.google.com/mymail.lausd.net/abyssal-squid/abyssal-squid</a:t>
            </a:r>
            <a:endParaRPr>
              <a:latin typeface="Noto Sans"/>
              <a:ea typeface="Noto Sans"/>
              <a:cs typeface="Noto Sans"/>
              <a:sym typeface="Noto Sans"/>
            </a:endParaRPr>
          </a:p>
        </p:txBody>
      </p:sp>
      <p:sp>
        <p:nvSpPr>
          <p:cNvPr id="184" name="Google Shape;184;p30"/>
          <p:cNvSpPr txBox="1"/>
          <p:nvPr/>
        </p:nvSpPr>
        <p:spPr>
          <a:xfrm>
            <a:off x="2667000" y="3706100"/>
            <a:ext cx="72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5" name="Google Shape;185;p30"/>
          <p:cNvSpPr txBox="1"/>
          <p:nvPr/>
        </p:nvSpPr>
        <p:spPr>
          <a:xfrm>
            <a:off x="1028700" y="3711125"/>
            <a:ext cx="6607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60BACC"/>
                </a:solidFill>
                <a:latin typeface="Google Sans"/>
                <a:ea typeface="Google Sans"/>
                <a:cs typeface="Google Sans"/>
                <a:sym typeface="Google Sans"/>
              </a:rPr>
              <a:t>Sources</a:t>
            </a:r>
            <a:endParaRPr b="1">
              <a:solidFill>
                <a:srgbClr val="60BACC"/>
              </a:solidFill>
              <a:latin typeface="Google Sans"/>
              <a:ea typeface="Google Sans"/>
              <a:cs typeface="Google Sans"/>
              <a:sym typeface="Google Sans"/>
            </a:endParaRPr>
          </a:p>
          <a:p>
            <a:pPr indent="-317500" lvl="0" marL="457200" rtl="0" algn="l">
              <a:spcBef>
                <a:spcPts val="0"/>
              </a:spcBef>
              <a:spcAft>
                <a:spcPts val="0"/>
              </a:spcAft>
              <a:buClr>
                <a:schemeClr val="lt1"/>
              </a:buClr>
              <a:buSzPts val="1400"/>
              <a:buFont typeface="Google Sans"/>
              <a:buChar char="●"/>
            </a:pPr>
            <a:r>
              <a:rPr lang="en">
                <a:solidFill>
                  <a:schemeClr val="lt1"/>
                </a:solidFill>
                <a:latin typeface="Google Sans"/>
                <a:ea typeface="Google Sans"/>
                <a:cs typeface="Google Sans"/>
                <a:sym typeface="Google Sans"/>
              </a:rPr>
              <a:t>The Ocean Cleanup</a:t>
            </a:r>
            <a:endParaRPr>
              <a:solidFill>
                <a:schemeClr val="lt1"/>
              </a:solidFill>
              <a:latin typeface="Google Sans"/>
              <a:ea typeface="Google Sans"/>
              <a:cs typeface="Google Sans"/>
              <a:sym typeface="Google Sans"/>
            </a:endParaRPr>
          </a:p>
          <a:p>
            <a:pPr indent="-317500" lvl="0" marL="457200" rtl="0" algn="l">
              <a:spcBef>
                <a:spcPts val="0"/>
              </a:spcBef>
              <a:spcAft>
                <a:spcPts val="0"/>
              </a:spcAft>
              <a:buClr>
                <a:schemeClr val="lt1"/>
              </a:buClr>
              <a:buSzPts val="1400"/>
              <a:buFont typeface="Google Sans"/>
              <a:buChar char="●"/>
            </a:pPr>
            <a:r>
              <a:rPr lang="en">
                <a:solidFill>
                  <a:schemeClr val="lt1"/>
                </a:solidFill>
                <a:latin typeface="Google Sans"/>
                <a:ea typeface="Google Sans"/>
                <a:cs typeface="Google Sans"/>
                <a:sym typeface="Google Sans"/>
              </a:rPr>
              <a:t>Everwave</a:t>
            </a:r>
            <a:endParaRPr>
              <a:solidFill>
                <a:schemeClr val="lt1"/>
              </a:solidFill>
              <a:latin typeface="Google Sans"/>
              <a:ea typeface="Google Sans"/>
              <a:cs typeface="Google Sans"/>
              <a:sym typeface="Google Sans"/>
            </a:endParaRPr>
          </a:p>
          <a:p>
            <a:pPr indent="-317500" lvl="0" marL="457200" rtl="0" algn="l">
              <a:spcBef>
                <a:spcPts val="0"/>
              </a:spcBef>
              <a:spcAft>
                <a:spcPts val="0"/>
              </a:spcAft>
              <a:buClr>
                <a:schemeClr val="lt1"/>
              </a:buClr>
              <a:buSzPts val="1400"/>
              <a:buFont typeface="Google Sans"/>
              <a:buChar char="●"/>
            </a:pPr>
            <a:r>
              <a:rPr lang="en">
                <a:solidFill>
                  <a:schemeClr val="lt1"/>
                </a:solidFill>
                <a:latin typeface="Google Sans"/>
                <a:ea typeface="Google Sans"/>
                <a:cs typeface="Google Sans"/>
                <a:sym typeface="Google Sans"/>
              </a:rPr>
              <a:t>Arduino Starting Guide</a:t>
            </a:r>
            <a:endParaRPr>
              <a:solidFill>
                <a:schemeClr val="lt1"/>
              </a:solidFill>
              <a:latin typeface="Google Sans"/>
              <a:ea typeface="Google Sans"/>
              <a:cs typeface="Google Sans"/>
              <a:sym typeface="Google Sans"/>
            </a:endParaRPr>
          </a:p>
          <a:p>
            <a:pPr indent="-317500" lvl="0" marL="457200" rtl="0" algn="l">
              <a:spcBef>
                <a:spcPts val="0"/>
              </a:spcBef>
              <a:spcAft>
                <a:spcPts val="0"/>
              </a:spcAft>
              <a:buClr>
                <a:schemeClr val="lt1"/>
              </a:buClr>
              <a:buSzPts val="1400"/>
              <a:buFont typeface="Google Sans"/>
              <a:buChar char="●"/>
            </a:pPr>
            <a:r>
              <a:rPr lang="en">
                <a:solidFill>
                  <a:schemeClr val="lt1"/>
                </a:solidFill>
                <a:latin typeface="Google Sans"/>
                <a:ea typeface="Google Sans"/>
                <a:cs typeface="Google Sans"/>
                <a:sym typeface="Google Sans"/>
              </a:rPr>
              <a:t>Museum of New Zealand Te Papa</a:t>
            </a:r>
            <a:endParaRPr>
              <a:solidFill>
                <a:schemeClr val="lt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cean Palette Watercolor Shapes for Social Media by Slidesgo">
  <a:themeElements>
    <a:clrScheme name="Simple Light">
      <a:dk1>
        <a:srgbClr val="0C2E6E"/>
      </a:dk1>
      <a:lt1>
        <a:srgbClr val="134DA3"/>
      </a:lt1>
      <a:dk2>
        <a:srgbClr val="197397"/>
      </a:dk2>
      <a:lt2>
        <a:srgbClr val="60B5B9"/>
      </a:lt2>
      <a:accent1>
        <a:srgbClr val="CFE3EA"/>
      </a:accent1>
      <a:accent2>
        <a:srgbClr val="FAFAFA"/>
      </a:accent2>
      <a:accent3>
        <a:srgbClr val="FFFFFF"/>
      </a:accent3>
      <a:accent4>
        <a:srgbClr val="FFFFFF"/>
      </a:accent4>
      <a:accent5>
        <a:srgbClr val="FFFFFF"/>
      </a:accent5>
      <a:accent6>
        <a:srgbClr val="FFFFFF"/>
      </a:accent6>
      <a:hlink>
        <a:srgbClr val="0C2E6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